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37"/>
  </p:notesMasterIdLst>
  <p:sldIdLst>
    <p:sldId id="256" r:id="rId2"/>
    <p:sldId id="257" r:id="rId3"/>
    <p:sldId id="259" r:id="rId4"/>
    <p:sldId id="274" r:id="rId5"/>
    <p:sldId id="278" r:id="rId6"/>
    <p:sldId id="273" r:id="rId7"/>
    <p:sldId id="275" r:id="rId8"/>
    <p:sldId id="276" r:id="rId9"/>
    <p:sldId id="277" r:id="rId10"/>
    <p:sldId id="279" r:id="rId11"/>
    <p:sldId id="280" r:id="rId12"/>
    <p:sldId id="291" r:id="rId13"/>
    <p:sldId id="290" r:id="rId14"/>
    <p:sldId id="272" r:id="rId15"/>
    <p:sldId id="285" r:id="rId16"/>
    <p:sldId id="288" r:id="rId17"/>
    <p:sldId id="261" r:id="rId18"/>
    <p:sldId id="262" r:id="rId19"/>
    <p:sldId id="263" r:id="rId20"/>
    <p:sldId id="264" r:id="rId21"/>
    <p:sldId id="265" r:id="rId22"/>
    <p:sldId id="266" r:id="rId23"/>
    <p:sldId id="292" r:id="rId24"/>
    <p:sldId id="281" r:id="rId25"/>
    <p:sldId id="282" r:id="rId26"/>
    <p:sldId id="283" r:id="rId27"/>
    <p:sldId id="284" r:id="rId28"/>
    <p:sldId id="293" r:id="rId29"/>
    <p:sldId id="286" r:id="rId30"/>
    <p:sldId id="287" r:id="rId31"/>
    <p:sldId id="267" r:id="rId32"/>
    <p:sldId id="268" r:id="rId33"/>
    <p:sldId id="269" r:id="rId34"/>
    <p:sldId id="270" r:id="rId35"/>
    <p:sldId id="271" r:id="rId3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39" roundtripDataSignature="AMtx7mh+7EaSmNxev/1QxE71rTaLeYl+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B003F-0700-3E17-F049-2A82834ECCEA}" v="145" dt="2025-10-25T10:06:05.942"/>
    <p1510:client id="{D1B53559-4C42-7DB3-680F-081A301E358F}" v="15" dt="2025-10-24T09:12:37.750"/>
    <p1510:client id="{D69404F6-3F1D-EA88-34AA-69E1AEE2CCCE}" v="17" dt="2025-10-23T13:54:26.438"/>
  </p1510:revLst>
</p1510:revInfo>
</file>

<file path=ppt/tableStyles.xml><?xml version="1.0" encoding="utf-8"?>
<a:tblStyleLst xmlns:a="http://schemas.openxmlformats.org/drawingml/2006/main" def="{1E2D30D4-FCEC-4D32-ADB7-FBDE390DB645}">
  <a:tblStyle styleId="{1E2D30D4-FCEC-4D32-ADB7-FBDE390DB64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customschemas.google.com/relationships/presentationmetadata" Target="meta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F663589A-84A4-69E7-4135-A8FFA522F8F1}"/>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9B8555F5-7945-D817-EC18-DB9A116445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6:notes">
            <a:extLst>
              <a:ext uri="{FF2B5EF4-FFF2-40B4-BE49-F238E27FC236}">
                <a16:creationId xmlns:a16="http://schemas.microsoft.com/office/drawing/2014/main" id="{22DB6737-C124-C679-F6F3-29407BBE97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6841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54EB5361-C3A1-647B-D74D-27CF207141DD}"/>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A67BC0CB-E19B-B501-0231-2A98F85F20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6:notes">
            <a:extLst>
              <a:ext uri="{FF2B5EF4-FFF2-40B4-BE49-F238E27FC236}">
                <a16:creationId xmlns:a16="http://schemas.microsoft.com/office/drawing/2014/main" id="{0B84624B-87AD-0FCC-5D49-3C9D459688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7248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9BF28D39-5D8F-7BF6-5B48-96C83324F701}"/>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7A40BD40-27B9-2753-B460-AFF4F30C828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6:notes">
            <a:extLst>
              <a:ext uri="{FF2B5EF4-FFF2-40B4-BE49-F238E27FC236}">
                <a16:creationId xmlns:a16="http://schemas.microsoft.com/office/drawing/2014/main" id="{CFD1851F-F56D-5FE0-7B9E-27737355CA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69994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8" name="Google Shape;13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4" name="Google Shape;14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9" name="Google Shape;159;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3823D7AD-9A5E-C369-C59F-6E25DD03D866}"/>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9E87DF3C-CE63-9C67-B47E-A7471D5145D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6:notes">
            <a:extLst>
              <a:ext uri="{FF2B5EF4-FFF2-40B4-BE49-F238E27FC236}">
                <a16:creationId xmlns:a16="http://schemas.microsoft.com/office/drawing/2014/main" id="{7E2864D9-CF38-7798-77BC-907DB82323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58880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116630FA-9F64-6792-B4DB-77789BCF9077}"/>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74E44D04-120F-06D6-756C-183D040B5C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6:notes">
            <a:extLst>
              <a:ext uri="{FF2B5EF4-FFF2-40B4-BE49-F238E27FC236}">
                <a16:creationId xmlns:a16="http://schemas.microsoft.com/office/drawing/2014/main" id="{62A00BB6-C959-A9E4-97BC-134B760B42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70052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a:extLst>
            <a:ext uri="{FF2B5EF4-FFF2-40B4-BE49-F238E27FC236}">
              <a16:creationId xmlns:a16="http://schemas.microsoft.com/office/drawing/2014/main" id="{5F068D72-5182-8087-0360-C3619A00663B}"/>
            </a:ext>
          </a:extLst>
        </p:cNvPr>
        <p:cNvGrpSpPr/>
        <p:nvPr/>
      </p:nvGrpSpPr>
      <p:grpSpPr>
        <a:xfrm>
          <a:off x="0" y="0"/>
          <a:ext cx="0" cy="0"/>
          <a:chOff x="0" y="0"/>
          <a:chExt cx="0" cy="0"/>
        </a:xfrm>
      </p:grpSpPr>
      <p:sp>
        <p:nvSpPr>
          <p:cNvPr id="253" name="Google Shape;253;p14:notes">
            <a:extLst>
              <a:ext uri="{FF2B5EF4-FFF2-40B4-BE49-F238E27FC236}">
                <a16:creationId xmlns:a16="http://schemas.microsoft.com/office/drawing/2014/main" id="{0E5CA8BE-88A4-42C8-ABE3-3560017FF7B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p14:notes">
            <a:extLst>
              <a:ext uri="{FF2B5EF4-FFF2-40B4-BE49-F238E27FC236}">
                <a16:creationId xmlns:a16="http://schemas.microsoft.com/office/drawing/2014/main" id="{CEF3CF3C-E23A-5CBB-3502-1DFE2D2F49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0013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a:extLst>
            <a:ext uri="{FF2B5EF4-FFF2-40B4-BE49-F238E27FC236}">
              <a16:creationId xmlns:a16="http://schemas.microsoft.com/office/drawing/2014/main" id="{9A9B81FC-904C-D26E-ADB1-462BA9C820A0}"/>
            </a:ext>
          </a:extLst>
        </p:cNvPr>
        <p:cNvGrpSpPr/>
        <p:nvPr/>
      </p:nvGrpSpPr>
      <p:grpSpPr>
        <a:xfrm>
          <a:off x="0" y="0"/>
          <a:ext cx="0" cy="0"/>
          <a:chOff x="0" y="0"/>
          <a:chExt cx="0" cy="0"/>
        </a:xfrm>
      </p:grpSpPr>
      <p:sp>
        <p:nvSpPr>
          <p:cNvPr id="253" name="Google Shape;253;p14:notes">
            <a:extLst>
              <a:ext uri="{FF2B5EF4-FFF2-40B4-BE49-F238E27FC236}">
                <a16:creationId xmlns:a16="http://schemas.microsoft.com/office/drawing/2014/main" id="{B1EF3F32-CD42-281D-911B-F822D45CC92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p14:notes">
            <a:extLst>
              <a:ext uri="{FF2B5EF4-FFF2-40B4-BE49-F238E27FC236}">
                <a16:creationId xmlns:a16="http://schemas.microsoft.com/office/drawing/2014/main" id="{F1FD8893-F2F3-9D61-0A7F-FA0AF078BD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83053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9F6EC1DB-1340-A8E6-5A79-7A6D88C9D83E}"/>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CADEDD3A-6EE2-4B33-0DD0-5176DA7C11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6:notes">
            <a:extLst>
              <a:ext uri="{FF2B5EF4-FFF2-40B4-BE49-F238E27FC236}">
                <a16:creationId xmlns:a16="http://schemas.microsoft.com/office/drawing/2014/main" id="{5A514803-0482-18E9-9CF1-48C141ADF2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3511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3" name="Google Shape;21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5" name="Google Shape;22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9" name="Google Shape;239;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4" name="Google Shape;25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8" name="Google Shape;26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dirty="0"/>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10/25/2025</a:t>
            </a:fld>
            <a:endParaRPr lang="en-US" dirty="0"/>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2758905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10/25/2025</a:t>
            </a:fld>
            <a:endParaRPr lang="en-US" dirty="0"/>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739078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dirty="0"/>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10/25/2025</a:t>
            </a:fld>
            <a:endParaRPr lang="en-US" dirty="0"/>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71424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10/25/2025</a:t>
            </a:fld>
            <a:endParaRPr lang="en-US" dirty="0"/>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325661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10/25/2025</a:t>
            </a:fld>
            <a:endParaRPr lang="en-US" dirty="0"/>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4103626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10/25/2025</a:t>
            </a:fld>
            <a:endParaRPr lang="en-US" dirty="0"/>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2185111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10/25/2025</a:t>
            </a:fld>
            <a:endParaRPr lang="en-US" dirty="0"/>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15941196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10/25/2025</a:t>
            </a:fld>
            <a:endParaRPr lang="en-US" dirty="0"/>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3083111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10/25/2025</a:t>
            </a:fld>
            <a:endParaRPr lang="en-US" dirty="0"/>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9314666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10/25/2025</a:t>
            </a:fld>
            <a:endParaRPr lang="en-US" dirty="0"/>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4285854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10/25/2025</a:t>
            </a:fld>
            <a:endParaRPr lang="en-US" dirty="0"/>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dirty="0"/>
          </a:p>
        </p:txBody>
      </p:sp>
    </p:spTree>
    <p:extLst>
      <p:ext uri="{BB962C8B-B14F-4D97-AF65-F5344CB8AC3E}">
        <p14:creationId xmlns:p14="http://schemas.microsoft.com/office/powerpoint/2010/main" val="2941729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10/25/2025</a:t>
            </a:fld>
            <a:endParaRPr lang="en-US" dirty="0"/>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dirty="0"/>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01599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
          <p:cNvSpPr/>
          <p:nvPr/>
        </p:nvSpPr>
        <p:spPr>
          <a:xfrm rot="10800000" flipH="1">
            <a:off x="0" y="0"/>
            <a:ext cx="12192000" cy="400685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5" name="Google Shape;85;p1"/>
          <p:cNvSpPr txBox="1">
            <a:spLocks noGrp="1"/>
          </p:cNvSpPr>
          <p:nvPr>
            <p:ph type="ctrTitle"/>
          </p:nvPr>
        </p:nvSpPr>
        <p:spPr>
          <a:xfrm>
            <a:off x="838200" y="914402"/>
            <a:ext cx="10515600" cy="265995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8000"/>
              <a:buFont typeface="Calibri"/>
              <a:buNone/>
            </a:pPr>
            <a:r>
              <a:rPr lang="en-US" sz="8000">
                <a:solidFill>
                  <a:srgbClr val="FFFFFF"/>
                </a:solidFill>
              </a:rPr>
              <a:t>Analysis reports for</a:t>
            </a:r>
            <a:endParaRPr sz="8000">
              <a:solidFill>
                <a:srgbClr val="FFFFFF"/>
              </a:solidFill>
            </a:endParaRPr>
          </a:p>
        </p:txBody>
      </p:sp>
      <p:sp>
        <p:nvSpPr>
          <p:cNvPr id="86" name="Google Shape;86;p1"/>
          <p:cNvSpPr txBox="1">
            <a:spLocks noGrp="1"/>
          </p:cNvSpPr>
          <p:nvPr>
            <p:ph type="subTitle" idx="1"/>
          </p:nvPr>
        </p:nvSpPr>
        <p:spPr>
          <a:xfrm>
            <a:off x="838200" y="4368800"/>
            <a:ext cx="10515600" cy="1390650"/>
          </a:xfrm>
          <a:prstGeom prst="rect">
            <a:avLst/>
          </a:prstGeom>
          <a:noFill/>
          <a:ln>
            <a:noFill/>
          </a:ln>
        </p:spPr>
        <p:txBody>
          <a:bodyPr spcFirstLastPara="1" wrap="square" lIns="91425" tIns="45700" rIns="91425" bIns="45700" anchor="t" anchorCtr="0">
            <a:normAutofit fontScale="92500" lnSpcReduction="20000"/>
          </a:bodyPr>
          <a:lstStyle/>
          <a:p>
            <a:pPr marL="0" lvl="0" indent="0" algn="ctr" rtl="0">
              <a:lnSpc>
                <a:spcPct val="90000"/>
              </a:lnSpc>
              <a:spcBef>
                <a:spcPts val="0"/>
              </a:spcBef>
              <a:spcAft>
                <a:spcPts val="0"/>
              </a:spcAft>
              <a:buClr>
                <a:schemeClr val="dk1"/>
              </a:buClr>
              <a:buSzPts val="3200"/>
              <a:buNone/>
            </a:pPr>
            <a:r>
              <a:rPr lang="en-US" sz="3200" dirty="0"/>
              <a:t>Shop satisfaction survey dataset</a:t>
            </a:r>
            <a:endParaRPr dirty="0"/>
          </a:p>
          <a:p>
            <a:pPr algn="ctr">
              <a:lnSpc>
                <a:spcPct val="90000"/>
              </a:lnSpc>
              <a:spcBef>
                <a:spcPts val="0"/>
              </a:spcBef>
              <a:buClr>
                <a:schemeClr val="dk1"/>
              </a:buClr>
              <a:buSzPts val="3200"/>
            </a:pPr>
            <a:r>
              <a:rPr lang="en-US" sz="3200" dirty="0"/>
              <a:t>Niko Kahila</a:t>
            </a:r>
          </a:p>
          <a:p>
            <a:pPr algn="ctr">
              <a:lnSpc>
                <a:spcPct val="90000"/>
              </a:lnSpc>
              <a:spcBef>
                <a:spcPts val="0"/>
              </a:spcBef>
              <a:buSzPts val="3200"/>
            </a:pPr>
            <a:r>
              <a:rPr lang="en-US" sz="3200" dirty="0"/>
              <a:t>Aki </a:t>
            </a:r>
            <a:r>
              <a:rPr lang="en-US" sz="3200" dirty="0" err="1"/>
              <a:t>Sartolahti</a:t>
            </a:r>
          </a:p>
          <a:p>
            <a:pPr algn="ctr">
              <a:lnSpc>
                <a:spcPct val="90000"/>
              </a:lnSpc>
              <a:spcBef>
                <a:spcPts val="0"/>
              </a:spcBef>
              <a:buSzPts val="3200"/>
            </a:pPr>
            <a:r>
              <a:rPr lang="en-US" sz="3200" dirty="0"/>
              <a:t>Sami Id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
        <p:nvSpPr>
          <p:cNvPr id="91" name="Google Shape;91;p2"/>
          <p:cNvSpPr/>
          <p:nvPr/>
        </p:nvSpPr>
        <p:spPr>
          <a:xfrm>
            <a:off x="-1" y="0"/>
            <a:ext cx="5093209"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2" name="Google Shape;92;p2"/>
          <p:cNvSpPr txBox="1">
            <a:spLocks noGrp="1"/>
          </p:cNvSpPr>
          <p:nvPr>
            <p:ph type="title"/>
          </p:nvPr>
        </p:nvSpPr>
        <p:spPr>
          <a:xfrm>
            <a:off x="524751" y="620400"/>
            <a:ext cx="4101000" cy="5504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6000"/>
              <a:buFont typeface="Calibri"/>
              <a:buNone/>
            </a:pPr>
            <a:r>
              <a:rPr lang="en-US" sz="6000">
                <a:solidFill>
                  <a:schemeClr val="lt1"/>
                </a:solidFill>
              </a:rPr>
              <a:t>Background of the survey</a:t>
            </a:r>
            <a:endParaRPr sz="6000">
              <a:solidFill>
                <a:schemeClr val="lt1"/>
              </a:solidFill>
            </a:endParaRPr>
          </a:p>
        </p:txBody>
      </p:sp>
      <p:grpSp>
        <p:nvGrpSpPr>
          <p:cNvPr id="93" name="Google Shape;93;p2"/>
          <p:cNvGrpSpPr/>
          <p:nvPr/>
        </p:nvGrpSpPr>
        <p:grpSpPr>
          <a:xfrm>
            <a:off x="5468389" y="744083"/>
            <a:ext cx="6263640" cy="5257305"/>
            <a:chOff x="0" y="123691"/>
            <a:chExt cx="6263640" cy="5257305"/>
          </a:xfrm>
        </p:grpSpPr>
        <p:sp>
          <p:nvSpPr>
            <p:cNvPr id="94" name="Google Shape;94;p2"/>
            <p:cNvSpPr/>
            <p:nvPr/>
          </p:nvSpPr>
          <p:spPr>
            <a:xfrm>
              <a:off x="0" y="123691"/>
              <a:ext cx="6263640" cy="1275446"/>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
            <p:cNvSpPr txBox="1"/>
            <p:nvPr/>
          </p:nvSpPr>
          <p:spPr>
            <a:xfrm>
              <a:off x="62262" y="185953"/>
              <a:ext cx="6139116" cy="1150922"/>
            </a:xfrm>
            <a:prstGeom prst="rect">
              <a:avLst/>
            </a:prstGeom>
            <a:noFill/>
            <a:ln>
              <a:noFill/>
            </a:ln>
          </p:spPr>
          <p:txBody>
            <a:bodyPr spcFirstLastPara="1" wrap="square" lIns="68575" tIns="68575" rIns="68575" bIns="68575" anchor="ctr" anchorCtr="0">
              <a:noAutofit/>
            </a:bodyPr>
            <a:lstStyle/>
            <a:p>
              <a:pPr marL="0" marR="0" lvl="0" indent="0" algn="l"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The survey was conducted by interviewing 102 customers of our shop between 1.1.2022 and 14.1.2022 (These are imaginary!!!)</a:t>
              </a:r>
              <a:endParaRPr sz="1400" b="0" i="0" u="none" strike="noStrike" cap="none">
                <a:solidFill>
                  <a:srgbClr val="000000"/>
                </a:solidFill>
                <a:latin typeface="Arial"/>
                <a:ea typeface="Arial"/>
                <a:cs typeface="Arial"/>
                <a:sym typeface="Arial"/>
              </a:endParaRPr>
            </a:p>
          </p:txBody>
        </p:sp>
        <p:sp>
          <p:nvSpPr>
            <p:cNvPr id="96" name="Google Shape;96;p2"/>
            <p:cNvSpPr/>
            <p:nvPr/>
          </p:nvSpPr>
          <p:spPr>
            <a:xfrm>
              <a:off x="0" y="1450977"/>
              <a:ext cx="6263640" cy="1275446"/>
            </a:xfrm>
            <a:prstGeom prst="roundRect">
              <a:avLst>
                <a:gd name="adj" fmla="val 16667"/>
              </a:avLst>
            </a:prstGeom>
            <a:solidFill>
              <a:srgbClr val="50C9B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2"/>
            <p:cNvSpPr txBox="1"/>
            <p:nvPr/>
          </p:nvSpPr>
          <p:spPr>
            <a:xfrm>
              <a:off x="62262" y="1513239"/>
              <a:ext cx="6139116" cy="1150922"/>
            </a:xfrm>
            <a:prstGeom prst="rect">
              <a:avLst/>
            </a:prstGeom>
            <a:noFill/>
            <a:ln>
              <a:noFill/>
            </a:ln>
          </p:spPr>
          <p:txBody>
            <a:bodyPr spcFirstLastPara="1" wrap="square" lIns="68575" tIns="68575" rIns="68575" bIns="68575" anchor="ctr" anchorCtr="0">
              <a:noAutofit/>
            </a:bodyPr>
            <a:lstStyle/>
            <a:p>
              <a:pPr marL="0" marR="0" lvl="0" indent="0" algn="l"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We took every 100</a:t>
              </a:r>
              <a:r>
                <a:rPr lang="en-US" sz="1800" b="0" i="0" u="none" strike="noStrike" cap="none" baseline="30000">
                  <a:solidFill>
                    <a:schemeClr val="lt1"/>
                  </a:solidFill>
                  <a:latin typeface="Calibri"/>
                  <a:ea typeface="Calibri"/>
                  <a:cs typeface="Calibri"/>
                  <a:sym typeface="Calibri"/>
                </a:rPr>
                <a:t>th</a:t>
              </a:r>
              <a:r>
                <a:rPr lang="en-US" sz="1800" b="0" i="0" u="none" strike="noStrike" cap="none">
                  <a:solidFill>
                    <a:schemeClr val="lt1"/>
                  </a:solidFill>
                  <a:latin typeface="Calibri"/>
                  <a:ea typeface="Calibri"/>
                  <a:cs typeface="Calibri"/>
                  <a:sym typeface="Calibri"/>
                </a:rPr>
                <a:t> customer that entered our shop and did the survey in such a way that equal amount of customers were interview between 9 am – 12 am, 12 am – 3 pm, 3 pm - 6 pm and 6 pm – 9 pm</a:t>
              </a:r>
              <a:endParaRPr sz="1400" b="0" i="0" u="none" strike="noStrike" cap="none">
                <a:solidFill>
                  <a:srgbClr val="000000"/>
                </a:solidFill>
                <a:latin typeface="Arial"/>
                <a:ea typeface="Arial"/>
                <a:cs typeface="Arial"/>
                <a:sym typeface="Arial"/>
              </a:endParaRPr>
            </a:p>
          </p:txBody>
        </p:sp>
        <p:sp>
          <p:nvSpPr>
            <p:cNvPr id="98" name="Google Shape;98;p2"/>
            <p:cNvSpPr/>
            <p:nvPr/>
          </p:nvSpPr>
          <p:spPr>
            <a:xfrm>
              <a:off x="0" y="2778263"/>
              <a:ext cx="6263640" cy="1275446"/>
            </a:xfrm>
            <a:prstGeom prst="roundRect">
              <a:avLst>
                <a:gd name="adj" fmla="val 16667"/>
              </a:avLst>
            </a:prstGeom>
            <a:solidFill>
              <a:srgbClr val="48BD6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2"/>
            <p:cNvSpPr txBox="1"/>
            <p:nvPr/>
          </p:nvSpPr>
          <p:spPr>
            <a:xfrm>
              <a:off x="62262" y="2840525"/>
              <a:ext cx="6139116" cy="1150922"/>
            </a:xfrm>
            <a:prstGeom prst="rect">
              <a:avLst/>
            </a:prstGeom>
            <a:noFill/>
            <a:ln>
              <a:noFill/>
            </a:ln>
          </p:spPr>
          <p:txBody>
            <a:bodyPr spcFirstLastPara="1" wrap="square" lIns="68575" tIns="68575" rIns="68575" bIns="68575" anchor="ctr" anchorCtr="0">
              <a:noAutofit/>
            </a:bodyPr>
            <a:lstStyle/>
            <a:p>
              <a:pPr marL="0" marR="0" lvl="0" indent="0" algn="l"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All the participants got movie tickets for their effort</a:t>
              </a:r>
              <a:endParaRPr sz="1400" b="0" i="0" u="none" strike="noStrike" cap="none">
                <a:solidFill>
                  <a:srgbClr val="000000"/>
                </a:solidFill>
                <a:latin typeface="Arial"/>
                <a:ea typeface="Arial"/>
                <a:cs typeface="Arial"/>
                <a:sym typeface="Arial"/>
              </a:endParaRPr>
            </a:p>
          </p:txBody>
        </p:sp>
        <p:sp>
          <p:nvSpPr>
            <p:cNvPr id="100" name="Google Shape;100;p2"/>
            <p:cNvSpPr/>
            <p:nvPr/>
          </p:nvSpPr>
          <p:spPr>
            <a:xfrm>
              <a:off x="0" y="4105550"/>
              <a:ext cx="6263640" cy="1275446"/>
            </a:xfrm>
            <a:prstGeom prst="roundRect">
              <a:avLst>
                <a:gd name="adj" fmla="val 16667"/>
              </a:avLst>
            </a:prstGeom>
            <a:solidFill>
              <a:srgbClr val="6FAB4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2"/>
            <p:cNvSpPr txBox="1"/>
            <p:nvPr/>
          </p:nvSpPr>
          <p:spPr>
            <a:xfrm>
              <a:off x="62262" y="4167812"/>
              <a:ext cx="6139116" cy="1150922"/>
            </a:xfrm>
            <a:prstGeom prst="rect">
              <a:avLst/>
            </a:prstGeom>
            <a:noFill/>
            <a:ln>
              <a:noFill/>
            </a:ln>
          </p:spPr>
          <p:txBody>
            <a:bodyPr spcFirstLastPara="1" wrap="square" lIns="68575" tIns="68575" rIns="68575" bIns="68575" anchor="ctr" anchorCtr="0">
              <a:noAutofit/>
            </a:bodyPr>
            <a:lstStyle/>
            <a:p>
              <a:pPr marL="0" marR="0" lvl="0" indent="0" algn="l"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 whatever other information would be needed, needs to be written down here…</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err="1"/>
              <a:t>Ikä</a:t>
            </a:r>
          </a:p>
        </p:txBody>
      </p:sp>
      <p:sp>
        <p:nvSpPr>
          <p:cNvPr id="121" name="Google Shape;121;p3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endParaRPr/>
          </a:p>
        </p:txBody>
      </p:sp>
      <p:pic>
        <p:nvPicPr>
          <p:cNvPr id="5" name="Kuva 4">
            <a:extLst>
              <a:ext uri="{FF2B5EF4-FFF2-40B4-BE49-F238E27FC236}">
                <a16:creationId xmlns:a16="http://schemas.microsoft.com/office/drawing/2014/main" id="{A8634CC7-A13D-C99D-D53B-0F3F01AA69DF}"/>
              </a:ext>
            </a:extLst>
          </p:cNvPr>
          <p:cNvPicPr>
            <a:picLocks noChangeAspect="1"/>
          </p:cNvPicPr>
          <p:nvPr/>
        </p:nvPicPr>
        <p:blipFill>
          <a:blip r:embed="rId3"/>
          <a:stretch>
            <a:fillRect/>
          </a:stretch>
        </p:blipFill>
        <p:spPr>
          <a:xfrm>
            <a:off x="746937" y="1376776"/>
            <a:ext cx="5182049" cy="4389500"/>
          </a:xfrm>
          <a:prstGeom prst="rect">
            <a:avLst/>
          </a:prstGeom>
        </p:spPr>
      </p:pic>
      <p:sp>
        <p:nvSpPr>
          <p:cNvPr id="2" name="Tekstiruutu 1">
            <a:extLst>
              <a:ext uri="{FF2B5EF4-FFF2-40B4-BE49-F238E27FC236}">
                <a16:creationId xmlns:a16="http://schemas.microsoft.com/office/drawing/2014/main" id="{3F3BB37C-683E-FB73-8C65-AF6B7B0F74B3}"/>
              </a:ext>
            </a:extLst>
          </p:cNvPr>
          <p:cNvSpPr txBox="1"/>
          <p:nvPr/>
        </p:nvSpPr>
        <p:spPr>
          <a:xfrm>
            <a:off x="9792929" y="629265"/>
            <a:ext cx="1337187" cy="307777"/>
          </a:xfrm>
          <a:prstGeom prst="rect">
            <a:avLst/>
          </a:prstGeom>
          <a:noFill/>
        </p:spPr>
        <p:txBody>
          <a:bodyPr wrap="square" rtlCol="0">
            <a:spAutoFit/>
          </a:bodyPr>
          <a:lstStyle/>
          <a:p>
            <a:r>
              <a:rPr lang="fi-FI"/>
              <a:t>Niko Kahila</a:t>
            </a:r>
          </a:p>
        </p:txBody>
      </p:sp>
      <p:pic>
        <p:nvPicPr>
          <p:cNvPr id="8" name="Kuva 7" descr="Kuva, joka sisältää kohteen teksti, kuvakaappaus, numero, Suorakaide&#10;&#10;Tekoälyllä luotu sisältö saattaa olla virheellistä.">
            <a:extLst>
              <a:ext uri="{FF2B5EF4-FFF2-40B4-BE49-F238E27FC236}">
                <a16:creationId xmlns:a16="http://schemas.microsoft.com/office/drawing/2014/main" id="{DE482F41-4591-4996-B553-71E2A2B52BEC}"/>
              </a:ext>
            </a:extLst>
          </p:cNvPr>
          <p:cNvPicPr>
            <a:picLocks noChangeAspect="1"/>
          </p:cNvPicPr>
          <p:nvPr/>
        </p:nvPicPr>
        <p:blipFill>
          <a:blip r:embed="rId4"/>
          <a:stretch>
            <a:fillRect/>
          </a:stretch>
        </p:blipFill>
        <p:spPr>
          <a:xfrm>
            <a:off x="6089295" y="1378804"/>
            <a:ext cx="5950851" cy="43936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3E78826-96C1-B84A-D2DE-AC4B25B523AA}"/>
              </a:ext>
            </a:extLst>
          </p:cNvPr>
          <p:cNvSpPr>
            <a:spLocks noGrp="1"/>
          </p:cNvSpPr>
          <p:nvPr>
            <p:ph type="title"/>
          </p:nvPr>
        </p:nvSpPr>
        <p:spPr/>
        <p:txBody>
          <a:bodyPr/>
          <a:lstStyle/>
          <a:p>
            <a:r>
              <a:rPr lang="fi-FI"/>
              <a:t>Ikä jakautuminen</a:t>
            </a:r>
          </a:p>
        </p:txBody>
      </p:sp>
      <p:sp>
        <p:nvSpPr>
          <p:cNvPr id="3" name="Tekstin paikkamerkki 2">
            <a:extLst>
              <a:ext uri="{FF2B5EF4-FFF2-40B4-BE49-F238E27FC236}">
                <a16:creationId xmlns:a16="http://schemas.microsoft.com/office/drawing/2014/main" id="{B369D11D-8B54-8B39-0CC6-A8FB86D371C8}"/>
              </a:ext>
            </a:extLst>
          </p:cNvPr>
          <p:cNvSpPr>
            <a:spLocks noGrp="1"/>
          </p:cNvSpPr>
          <p:nvPr>
            <p:ph idx="1"/>
          </p:nvPr>
        </p:nvSpPr>
        <p:spPr/>
        <p:txBody>
          <a:bodyPr/>
          <a:lstStyle/>
          <a:p>
            <a:endParaRPr lang="fi-FI"/>
          </a:p>
        </p:txBody>
      </p:sp>
      <p:pic>
        <p:nvPicPr>
          <p:cNvPr id="7" name="Kuva 6">
            <a:extLst>
              <a:ext uri="{FF2B5EF4-FFF2-40B4-BE49-F238E27FC236}">
                <a16:creationId xmlns:a16="http://schemas.microsoft.com/office/drawing/2014/main" id="{87951566-8B82-9EE1-F10D-AD060D215EF2}"/>
              </a:ext>
            </a:extLst>
          </p:cNvPr>
          <p:cNvPicPr>
            <a:picLocks noChangeAspect="1"/>
          </p:cNvPicPr>
          <p:nvPr/>
        </p:nvPicPr>
        <p:blipFill>
          <a:blip r:embed="rId2"/>
          <a:stretch>
            <a:fillRect/>
          </a:stretch>
        </p:blipFill>
        <p:spPr>
          <a:xfrm>
            <a:off x="183169" y="1368366"/>
            <a:ext cx="5721640" cy="4692188"/>
          </a:xfrm>
          <a:prstGeom prst="rect">
            <a:avLst/>
          </a:prstGeom>
        </p:spPr>
      </p:pic>
      <p:sp>
        <p:nvSpPr>
          <p:cNvPr id="10" name="Tekstiruutu 9">
            <a:extLst>
              <a:ext uri="{FF2B5EF4-FFF2-40B4-BE49-F238E27FC236}">
                <a16:creationId xmlns:a16="http://schemas.microsoft.com/office/drawing/2014/main" id="{6986E95B-669A-51E2-C194-407941633C67}"/>
              </a:ext>
            </a:extLst>
          </p:cNvPr>
          <p:cNvSpPr txBox="1"/>
          <p:nvPr/>
        </p:nvSpPr>
        <p:spPr>
          <a:xfrm>
            <a:off x="9792929" y="629265"/>
            <a:ext cx="1337187" cy="307777"/>
          </a:xfrm>
          <a:prstGeom prst="rect">
            <a:avLst/>
          </a:prstGeom>
          <a:noFill/>
        </p:spPr>
        <p:txBody>
          <a:bodyPr wrap="square" rtlCol="0">
            <a:spAutoFit/>
          </a:bodyPr>
          <a:lstStyle/>
          <a:p>
            <a:r>
              <a:rPr lang="fi-FI"/>
              <a:t>Niko Kahila</a:t>
            </a:r>
          </a:p>
        </p:txBody>
      </p:sp>
      <p:pic>
        <p:nvPicPr>
          <p:cNvPr id="5" name="Kuva 4" descr="Kuva, joka sisältää kohteen teksti, kuvakaappaus, Fontti&#10;&#10;Tekoälyllä luotu sisältö saattaa olla virheellistä.">
            <a:extLst>
              <a:ext uri="{FF2B5EF4-FFF2-40B4-BE49-F238E27FC236}">
                <a16:creationId xmlns:a16="http://schemas.microsoft.com/office/drawing/2014/main" id="{63EA3EE1-B8A5-3F74-5901-04B1EC329608}"/>
              </a:ext>
            </a:extLst>
          </p:cNvPr>
          <p:cNvPicPr>
            <a:picLocks noChangeAspect="1"/>
          </p:cNvPicPr>
          <p:nvPr/>
        </p:nvPicPr>
        <p:blipFill>
          <a:blip r:embed="rId3"/>
          <a:stretch>
            <a:fillRect/>
          </a:stretch>
        </p:blipFill>
        <p:spPr>
          <a:xfrm>
            <a:off x="5921230" y="1558551"/>
            <a:ext cx="1753477" cy="3198104"/>
          </a:xfrm>
          <a:prstGeom prst="rect">
            <a:avLst/>
          </a:prstGeom>
        </p:spPr>
      </p:pic>
      <p:sp>
        <p:nvSpPr>
          <p:cNvPr id="6" name="Tekstiruutu 5">
            <a:extLst>
              <a:ext uri="{FF2B5EF4-FFF2-40B4-BE49-F238E27FC236}">
                <a16:creationId xmlns:a16="http://schemas.microsoft.com/office/drawing/2014/main" id="{0627DDA5-1ECF-E02D-3A09-CDF856B46FF1}"/>
              </a:ext>
            </a:extLst>
          </p:cNvPr>
          <p:cNvSpPr txBox="1"/>
          <p:nvPr/>
        </p:nvSpPr>
        <p:spPr>
          <a:xfrm>
            <a:off x="7898059" y="2039794"/>
            <a:ext cx="3661774"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a:t>Taulukot näyttävät Ikä ja sukupuoli jakauman josta huomaa että yhtiössä työskentelee 20-61 iän välillä joista keskimäärin suurin osa henkilöistä ovat myöhäis- kolmekymppisiä joten yhtiössä työskentelee melko nuoria työntekijöitä.</a:t>
            </a:r>
          </a:p>
        </p:txBody>
      </p:sp>
    </p:spTree>
    <p:extLst>
      <p:ext uri="{BB962C8B-B14F-4D97-AF65-F5344CB8AC3E}">
        <p14:creationId xmlns:p14="http://schemas.microsoft.com/office/powerpoint/2010/main" val="2882287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4F9F122B-AE7D-C36F-C3C1-A3AE29CF3E5B}"/>
              </a:ext>
            </a:extLst>
          </p:cNvPr>
          <p:cNvSpPr>
            <a:spLocks noGrp="1"/>
          </p:cNvSpPr>
          <p:nvPr>
            <p:ph type="title"/>
          </p:nvPr>
        </p:nvSpPr>
        <p:spPr>
          <a:xfrm>
            <a:off x="465551" y="192067"/>
            <a:ext cx="10812049" cy="2335789"/>
          </a:xfrm>
        </p:spPr>
        <p:txBody>
          <a:bodyPr/>
          <a:lstStyle/>
          <a:p>
            <a:r>
              <a:rPr lang="fi-FI" dirty="0"/>
              <a:t>Ikä jakautuminen luokissa</a:t>
            </a:r>
          </a:p>
        </p:txBody>
      </p:sp>
      <p:pic>
        <p:nvPicPr>
          <p:cNvPr id="4" name="Sisällön paikkamerkki 3" descr="Kuva, joka sisältää kohteen teksti, kuvakaappaus, viiva, Tontti&#10;&#10;Tekoälyllä luotu sisältö saattaa olla virheellistä.">
            <a:extLst>
              <a:ext uri="{FF2B5EF4-FFF2-40B4-BE49-F238E27FC236}">
                <a16:creationId xmlns:a16="http://schemas.microsoft.com/office/drawing/2014/main" id="{98453850-06ED-0FA7-3D78-19DCE4DE2068}"/>
              </a:ext>
            </a:extLst>
          </p:cNvPr>
          <p:cNvPicPr>
            <a:picLocks noGrp="1" noChangeAspect="1"/>
          </p:cNvPicPr>
          <p:nvPr>
            <p:ph idx="1"/>
          </p:nvPr>
        </p:nvPicPr>
        <p:blipFill>
          <a:blip r:embed="rId2"/>
          <a:stretch>
            <a:fillRect/>
          </a:stretch>
        </p:blipFill>
        <p:spPr>
          <a:xfrm>
            <a:off x="103439" y="1191746"/>
            <a:ext cx="8102049" cy="5324192"/>
          </a:xfrm>
          <a:prstGeom prst="rect">
            <a:avLst/>
          </a:prstGeom>
        </p:spPr>
      </p:pic>
      <p:pic>
        <p:nvPicPr>
          <p:cNvPr id="7" name="Kuva 6" descr="Kuva, joka sisältää kohteen teksti, Fontti, kuvakaappaus, musta&#10;&#10;Tekoälyllä luotu sisältö saattaa olla virheellistä.">
            <a:extLst>
              <a:ext uri="{FF2B5EF4-FFF2-40B4-BE49-F238E27FC236}">
                <a16:creationId xmlns:a16="http://schemas.microsoft.com/office/drawing/2014/main" id="{A9667AC3-F036-2737-6D90-ADB538BEB339}"/>
              </a:ext>
            </a:extLst>
          </p:cNvPr>
          <p:cNvPicPr>
            <a:picLocks noChangeAspect="1"/>
          </p:cNvPicPr>
          <p:nvPr/>
        </p:nvPicPr>
        <p:blipFill>
          <a:blip r:embed="rId3"/>
          <a:srcRect r="31755" b="-465"/>
          <a:stretch>
            <a:fillRect/>
          </a:stretch>
        </p:blipFill>
        <p:spPr>
          <a:xfrm>
            <a:off x="8338678" y="1169552"/>
            <a:ext cx="3616748" cy="2259011"/>
          </a:xfrm>
          <a:prstGeom prst="rect">
            <a:avLst/>
          </a:prstGeom>
        </p:spPr>
      </p:pic>
    </p:spTree>
    <p:extLst>
      <p:ext uri="{BB962C8B-B14F-4D97-AF65-F5344CB8AC3E}">
        <p14:creationId xmlns:p14="http://schemas.microsoft.com/office/powerpoint/2010/main" val="3654515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2A32E64-42A9-5C0B-D554-1D8E1EE5217A}"/>
              </a:ext>
            </a:extLst>
          </p:cNvPr>
          <p:cNvSpPr>
            <a:spLocks noGrp="1"/>
          </p:cNvSpPr>
          <p:nvPr>
            <p:ph type="title"/>
          </p:nvPr>
        </p:nvSpPr>
        <p:spPr>
          <a:xfrm>
            <a:off x="924838" y="943629"/>
            <a:ext cx="10352762" cy="1615542"/>
          </a:xfrm>
        </p:spPr>
        <p:txBody>
          <a:bodyPr/>
          <a:lstStyle/>
          <a:p>
            <a:r>
              <a:rPr lang="fi-FI"/>
              <a:t>Naisten ja miesten jakautuminen</a:t>
            </a:r>
          </a:p>
        </p:txBody>
      </p:sp>
      <p:sp>
        <p:nvSpPr>
          <p:cNvPr id="3" name="Tekstin paikkamerkki 2">
            <a:extLst>
              <a:ext uri="{FF2B5EF4-FFF2-40B4-BE49-F238E27FC236}">
                <a16:creationId xmlns:a16="http://schemas.microsoft.com/office/drawing/2014/main" id="{954D0480-8A47-7297-0924-7DCF87ED500D}"/>
              </a:ext>
            </a:extLst>
          </p:cNvPr>
          <p:cNvSpPr>
            <a:spLocks noGrp="1"/>
          </p:cNvSpPr>
          <p:nvPr>
            <p:ph idx="1"/>
          </p:nvPr>
        </p:nvSpPr>
        <p:spPr/>
        <p:txBody>
          <a:bodyPr/>
          <a:lstStyle/>
          <a:p>
            <a:endParaRPr lang="fi-FI"/>
          </a:p>
        </p:txBody>
      </p:sp>
      <p:pic>
        <p:nvPicPr>
          <p:cNvPr id="5" name="Kuva 4">
            <a:extLst>
              <a:ext uri="{FF2B5EF4-FFF2-40B4-BE49-F238E27FC236}">
                <a16:creationId xmlns:a16="http://schemas.microsoft.com/office/drawing/2014/main" id="{A01FA123-2CA0-468C-58A4-F635CFE126E8}"/>
              </a:ext>
            </a:extLst>
          </p:cNvPr>
          <p:cNvPicPr>
            <a:picLocks noChangeAspect="1"/>
          </p:cNvPicPr>
          <p:nvPr/>
        </p:nvPicPr>
        <p:blipFill>
          <a:blip r:embed="rId2"/>
          <a:stretch>
            <a:fillRect/>
          </a:stretch>
        </p:blipFill>
        <p:spPr>
          <a:xfrm>
            <a:off x="806885" y="1748630"/>
            <a:ext cx="4483630" cy="4714096"/>
          </a:xfrm>
          <a:prstGeom prst="rect">
            <a:avLst/>
          </a:prstGeom>
        </p:spPr>
      </p:pic>
      <p:pic>
        <p:nvPicPr>
          <p:cNvPr id="7" name="Kuva 6">
            <a:extLst>
              <a:ext uri="{FF2B5EF4-FFF2-40B4-BE49-F238E27FC236}">
                <a16:creationId xmlns:a16="http://schemas.microsoft.com/office/drawing/2014/main" id="{1D3409CD-FC16-766B-6C33-83C1E1A2C713}"/>
              </a:ext>
            </a:extLst>
          </p:cNvPr>
          <p:cNvPicPr>
            <a:picLocks noChangeAspect="1"/>
          </p:cNvPicPr>
          <p:nvPr/>
        </p:nvPicPr>
        <p:blipFill>
          <a:blip r:embed="rId3"/>
          <a:stretch>
            <a:fillRect/>
          </a:stretch>
        </p:blipFill>
        <p:spPr>
          <a:xfrm>
            <a:off x="5310466" y="1926229"/>
            <a:ext cx="2770891" cy="1800197"/>
          </a:xfrm>
          <a:prstGeom prst="rect">
            <a:avLst/>
          </a:prstGeom>
        </p:spPr>
      </p:pic>
      <p:sp>
        <p:nvSpPr>
          <p:cNvPr id="8" name="Tekstiruutu 7">
            <a:extLst>
              <a:ext uri="{FF2B5EF4-FFF2-40B4-BE49-F238E27FC236}">
                <a16:creationId xmlns:a16="http://schemas.microsoft.com/office/drawing/2014/main" id="{6366EEDB-7DED-BEB4-9B8E-656298BD2C3B}"/>
              </a:ext>
            </a:extLst>
          </p:cNvPr>
          <p:cNvSpPr txBox="1"/>
          <p:nvPr/>
        </p:nvSpPr>
        <p:spPr>
          <a:xfrm>
            <a:off x="9763432" y="681037"/>
            <a:ext cx="1337187" cy="307777"/>
          </a:xfrm>
          <a:prstGeom prst="rect">
            <a:avLst/>
          </a:prstGeom>
          <a:noFill/>
        </p:spPr>
        <p:txBody>
          <a:bodyPr wrap="square" rtlCol="0">
            <a:spAutoFit/>
          </a:bodyPr>
          <a:lstStyle/>
          <a:p>
            <a:r>
              <a:rPr lang="fi-FI"/>
              <a:t>Niko Kahila</a:t>
            </a:r>
          </a:p>
        </p:txBody>
      </p:sp>
      <p:sp>
        <p:nvSpPr>
          <p:cNvPr id="6" name="Tekstiruutu 5">
            <a:extLst>
              <a:ext uri="{FF2B5EF4-FFF2-40B4-BE49-F238E27FC236}">
                <a16:creationId xmlns:a16="http://schemas.microsoft.com/office/drawing/2014/main" id="{A2D557DD-6DE3-E51E-CC7D-07231B4C0D5B}"/>
              </a:ext>
            </a:extLst>
          </p:cNvPr>
          <p:cNvSpPr txBox="1"/>
          <p:nvPr/>
        </p:nvSpPr>
        <p:spPr>
          <a:xfrm>
            <a:off x="8777507" y="2165031"/>
            <a:ext cx="274319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a:t>Yhtiössä työskentelee enimmäkseen miehiä.</a:t>
            </a:r>
          </a:p>
        </p:txBody>
      </p:sp>
    </p:spTree>
    <p:extLst>
      <p:ext uri="{BB962C8B-B14F-4D97-AF65-F5344CB8AC3E}">
        <p14:creationId xmlns:p14="http://schemas.microsoft.com/office/powerpoint/2010/main" val="682776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F133503-7428-E7FF-ECE6-6AFC6B96CE66}"/>
              </a:ext>
            </a:extLst>
          </p:cNvPr>
          <p:cNvSpPr>
            <a:spLocks noGrp="1"/>
          </p:cNvSpPr>
          <p:nvPr>
            <p:ph type="title"/>
          </p:nvPr>
        </p:nvSpPr>
        <p:spPr>
          <a:xfrm>
            <a:off x="413359" y="369519"/>
            <a:ext cx="10864241" cy="2220966"/>
          </a:xfrm>
        </p:spPr>
        <p:txBody>
          <a:bodyPr/>
          <a:lstStyle/>
          <a:p>
            <a:r>
              <a:rPr lang="fi-FI"/>
              <a:t>Työtehtävä tyytyväisyys</a:t>
            </a:r>
          </a:p>
        </p:txBody>
      </p:sp>
      <p:pic>
        <p:nvPicPr>
          <p:cNvPr id="8" name="Sisällön paikkamerkki 7" descr="Kuva, joka sisältää kohteen teksti, ympyrä, kuvakaappaus, diagrammi&#10;&#10;Tekoälyllä luotu sisältö saattaa olla virheellistä.">
            <a:extLst>
              <a:ext uri="{FF2B5EF4-FFF2-40B4-BE49-F238E27FC236}">
                <a16:creationId xmlns:a16="http://schemas.microsoft.com/office/drawing/2014/main" id="{16F59725-C358-978E-1474-16A364DB96A0}"/>
              </a:ext>
            </a:extLst>
          </p:cNvPr>
          <p:cNvPicPr>
            <a:picLocks noGrp="1" noChangeAspect="1"/>
          </p:cNvPicPr>
          <p:nvPr>
            <p:ph idx="1"/>
          </p:nvPr>
        </p:nvPicPr>
        <p:blipFill>
          <a:blip r:embed="rId2"/>
          <a:stretch>
            <a:fillRect/>
          </a:stretch>
        </p:blipFill>
        <p:spPr>
          <a:xfrm>
            <a:off x="99484" y="1170870"/>
            <a:ext cx="5197660" cy="5209369"/>
          </a:xfrm>
          <a:prstGeom prst="rect">
            <a:avLst/>
          </a:prstGeom>
        </p:spPr>
      </p:pic>
      <p:pic>
        <p:nvPicPr>
          <p:cNvPr id="5" name="Kuva 4" descr="Kuva, joka sisältää kohteen teksti, kuvakaappaus, Fontti, numero&#10;&#10;Tekoälyllä luotu sisältö saattaa olla virheellistä.">
            <a:extLst>
              <a:ext uri="{FF2B5EF4-FFF2-40B4-BE49-F238E27FC236}">
                <a16:creationId xmlns:a16="http://schemas.microsoft.com/office/drawing/2014/main" id="{B1359771-26FC-4609-7F77-076887DB3E0E}"/>
              </a:ext>
            </a:extLst>
          </p:cNvPr>
          <p:cNvPicPr>
            <a:picLocks noChangeAspect="1"/>
          </p:cNvPicPr>
          <p:nvPr/>
        </p:nvPicPr>
        <p:blipFill>
          <a:blip r:embed="rId3"/>
          <a:stretch>
            <a:fillRect/>
          </a:stretch>
        </p:blipFill>
        <p:spPr>
          <a:xfrm>
            <a:off x="5289441" y="1716457"/>
            <a:ext cx="2009775" cy="2381250"/>
          </a:xfrm>
          <a:prstGeom prst="rect">
            <a:avLst/>
          </a:prstGeom>
        </p:spPr>
      </p:pic>
      <p:sp>
        <p:nvSpPr>
          <p:cNvPr id="6" name="Tekstiruutu 5">
            <a:extLst>
              <a:ext uri="{FF2B5EF4-FFF2-40B4-BE49-F238E27FC236}">
                <a16:creationId xmlns:a16="http://schemas.microsoft.com/office/drawing/2014/main" id="{A721A2F7-342D-520C-2DC4-306AC47A922C}"/>
              </a:ext>
            </a:extLst>
          </p:cNvPr>
          <p:cNvSpPr txBox="1"/>
          <p:nvPr/>
        </p:nvSpPr>
        <p:spPr>
          <a:xfrm>
            <a:off x="7600466" y="2060447"/>
            <a:ext cx="419413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a:t>Taulukosta voi päätellä että työntekijät ovat enimmäkseen tyytyväisiä heidän työtehtäviin.</a:t>
            </a:r>
          </a:p>
        </p:txBody>
      </p:sp>
      <p:sp>
        <p:nvSpPr>
          <p:cNvPr id="7" name="Tekstiruutu 6">
            <a:extLst>
              <a:ext uri="{FF2B5EF4-FFF2-40B4-BE49-F238E27FC236}">
                <a16:creationId xmlns:a16="http://schemas.microsoft.com/office/drawing/2014/main" id="{F2B4EBEF-BDC9-5230-7022-0146BB4BFB23}"/>
              </a:ext>
            </a:extLst>
          </p:cNvPr>
          <p:cNvSpPr txBox="1"/>
          <p:nvPr/>
        </p:nvSpPr>
        <p:spPr>
          <a:xfrm>
            <a:off x="10332675" y="644042"/>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dirty="0"/>
              <a:t>Niko Kahila</a:t>
            </a:r>
          </a:p>
        </p:txBody>
      </p:sp>
    </p:spTree>
    <p:extLst>
      <p:ext uri="{BB962C8B-B14F-4D97-AF65-F5344CB8AC3E}">
        <p14:creationId xmlns:p14="http://schemas.microsoft.com/office/powerpoint/2010/main" val="916398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E1C10BFB-691E-BF3C-859B-71D7A607B3CD}"/>
              </a:ext>
            </a:extLst>
          </p:cNvPr>
          <p:cNvSpPr>
            <a:spLocks noGrp="1"/>
          </p:cNvSpPr>
          <p:nvPr>
            <p:ph type="title"/>
          </p:nvPr>
        </p:nvSpPr>
        <p:spPr/>
        <p:txBody>
          <a:bodyPr/>
          <a:lstStyle/>
          <a:p>
            <a:endParaRPr lang="fi-FI"/>
          </a:p>
        </p:txBody>
      </p:sp>
      <p:sp>
        <p:nvSpPr>
          <p:cNvPr id="3" name="Tekstin paikkamerkki 2">
            <a:extLst>
              <a:ext uri="{FF2B5EF4-FFF2-40B4-BE49-F238E27FC236}">
                <a16:creationId xmlns:a16="http://schemas.microsoft.com/office/drawing/2014/main" id="{7680C8D2-BF15-13F0-F646-E446F96167B6}"/>
              </a:ext>
            </a:extLst>
          </p:cNvPr>
          <p:cNvSpPr>
            <a:spLocks noGrp="1"/>
          </p:cNvSpPr>
          <p:nvPr>
            <p:ph idx="1"/>
          </p:nvPr>
        </p:nvSpPr>
        <p:spPr/>
        <p:txBody>
          <a:bodyPr/>
          <a:lstStyle/>
          <a:p>
            <a:endParaRPr lang="fi-FI"/>
          </a:p>
        </p:txBody>
      </p:sp>
      <p:pic>
        <p:nvPicPr>
          <p:cNvPr id="4" name="Kuva 3" descr="Kuva, joka sisältää kohteen teksti, kuvakaappaus, näyttö, diagrammi&#10;&#10;Tekoälyllä luotu sisältö saattaa olla virheellistä.">
            <a:extLst>
              <a:ext uri="{FF2B5EF4-FFF2-40B4-BE49-F238E27FC236}">
                <a16:creationId xmlns:a16="http://schemas.microsoft.com/office/drawing/2014/main" id="{A0DA16A3-BDC1-ECF2-B235-DC0D3F2E2F53}"/>
              </a:ext>
            </a:extLst>
          </p:cNvPr>
          <p:cNvPicPr>
            <a:picLocks noChangeAspect="1"/>
          </p:cNvPicPr>
          <p:nvPr/>
        </p:nvPicPr>
        <p:blipFill>
          <a:blip r:embed="rId2"/>
          <a:stretch>
            <a:fillRect/>
          </a:stretch>
        </p:blipFill>
        <p:spPr>
          <a:xfrm>
            <a:off x="840092" y="1330041"/>
            <a:ext cx="5887625" cy="4834657"/>
          </a:xfrm>
          <a:prstGeom prst="rect">
            <a:avLst/>
          </a:prstGeom>
        </p:spPr>
      </p:pic>
      <p:sp>
        <p:nvSpPr>
          <p:cNvPr id="5" name="Tekstiruutu 4">
            <a:extLst>
              <a:ext uri="{FF2B5EF4-FFF2-40B4-BE49-F238E27FC236}">
                <a16:creationId xmlns:a16="http://schemas.microsoft.com/office/drawing/2014/main" id="{BF714478-7636-C2C1-91C9-7C7D5CE71E1F}"/>
              </a:ext>
            </a:extLst>
          </p:cNvPr>
          <p:cNvSpPr txBox="1"/>
          <p:nvPr/>
        </p:nvSpPr>
        <p:spPr>
          <a:xfrm>
            <a:off x="7538462" y="3762122"/>
            <a:ext cx="3317307"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a:t>chi2 p arvon 0.46 perusteella sukupuolen ja työtehtävätyytyväisyyden välillä ei näytä olevan tilastollista riippuvuutta</a:t>
            </a:r>
          </a:p>
          <a:p>
            <a:pPr algn="l"/>
            <a:endParaRPr lang="fi-FI"/>
          </a:p>
        </p:txBody>
      </p:sp>
      <p:pic>
        <p:nvPicPr>
          <p:cNvPr id="6" name="Kuva 5" descr="Kuva, joka sisältää kohteen teksti, Fontti, kuvakaappaus, numero&#10;&#10;Tekoälyllä luotu sisältö saattaa olla virheellistä.">
            <a:extLst>
              <a:ext uri="{FF2B5EF4-FFF2-40B4-BE49-F238E27FC236}">
                <a16:creationId xmlns:a16="http://schemas.microsoft.com/office/drawing/2014/main" id="{AD1F1E62-76DB-A366-5457-2BE4C3C5ADCC}"/>
              </a:ext>
            </a:extLst>
          </p:cNvPr>
          <p:cNvPicPr>
            <a:picLocks noChangeAspect="1"/>
          </p:cNvPicPr>
          <p:nvPr/>
        </p:nvPicPr>
        <p:blipFill>
          <a:blip r:embed="rId3"/>
          <a:stretch>
            <a:fillRect/>
          </a:stretch>
        </p:blipFill>
        <p:spPr>
          <a:xfrm>
            <a:off x="6735349" y="1539137"/>
            <a:ext cx="3230671" cy="1587673"/>
          </a:xfrm>
          <a:prstGeom prst="rect">
            <a:avLst/>
          </a:prstGeom>
        </p:spPr>
      </p:pic>
      <p:sp>
        <p:nvSpPr>
          <p:cNvPr id="7" name="Tekstiruutu 6">
            <a:extLst>
              <a:ext uri="{FF2B5EF4-FFF2-40B4-BE49-F238E27FC236}">
                <a16:creationId xmlns:a16="http://schemas.microsoft.com/office/drawing/2014/main" id="{EF09B448-FE9A-C928-1368-1DF7DDE72512}"/>
              </a:ext>
            </a:extLst>
          </p:cNvPr>
          <p:cNvSpPr txBox="1"/>
          <p:nvPr/>
        </p:nvSpPr>
        <p:spPr>
          <a:xfrm>
            <a:off x="10094585" y="672883"/>
            <a:ext cx="321292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a:t>Niko Kahila</a:t>
            </a:r>
          </a:p>
        </p:txBody>
      </p:sp>
    </p:spTree>
    <p:extLst>
      <p:ext uri="{BB962C8B-B14F-4D97-AF65-F5344CB8AC3E}">
        <p14:creationId xmlns:p14="http://schemas.microsoft.com/office/powerpoint/2010/main" val="3088670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931274F8-1B8C-4822-F638-4B30E587563B}"/>
              </a:ext>
            </a:extLst>
          </p:cNvPr>
          <p:cNvSpPr>
            <a:spLocks noGrp="1"/>
          </p:cNvSpPr>
          <p:nvPr>
            <p:ph type="title"/>
          </p:nvPr>
        </p:nvSpPr>
        <p:spPr/>
        <p:txBody>
          <a:bodyPr/>
          <a:lstStyle/>
          <a:p>
            <a:endParaRPr lang="fi-FI"/>
          </a:p>
        </p:txBody>
      </p:sp>
      <p:sp>
        <p:nvSpPr>
          <p:cNvPr id="3" name="Tekstin paikkamerkki 2">
            <a:extLst>
              <a:ext uri="{FF2B5EF4-FFF2-40B4-BE49-F238E27FC236}">
                <a16:creationId xmlns:a16="http://schemas.microsoft.com/office/drawing/2014/main" id="{3C71F9CE-3FEA-8D4F-470E-AF3D1E0E0727}"/>
              </a:ext>
            </a:extLst>
          </p:cNvPr>
          <p:cNvSpPr>
            <a:spLocks noGrp="1"/>
          </p:cNvSpPr>
          <p:nvPr>
            <p:ph idx="1"/>
          </p:nvPr>
        </p:nvSpPr>
        <p:spPr/>
        <p:txBody>
          <a:bodyPr/>
          <a:lstStyle/>
          <a:p>
            <a:endParaRPr lang="fi-FI"/>
          </a:p>
        </p:txBody>
      </p:sp>
      <p:pic>
        <p:nvPicPr>
          <p:cNvPr id="4" name="Kuva 3" descr="Kuva, joka sisältää kohteen teksti, kuvakaappaus, näyttö, Suorakaide&#10;&#10;Tekoälyllä luotu sisältö saattaa olla virheellistä.">
            <a:extLst>
              <a:ext uri="{FF2B5EF4-FFF2-40B4-BE49-F238E27FC236}">
                <a16:creationId xmlns:a16="http://schemas.microsoft.com/office/drawing/2014/main" id="{C2503E47-3C8E-BC62-57C6-03D2DB14A478}"/>
              </a:ext>
            </a:extLst>
          </p:cNvPr>
          <p:cNvPicPr>
            <a:picLocks noChangeAspect="1"/>
          </p:cNvPicPr>
          <p:nvPr/>
        </p:nvPicPr>
        <p:blipFill>
          <a:blip r:embed="rId2"/>
          <a:stretch>
            <a:fillRect/>
          </a:stretch>
        </p:blipFill>
        <p:spPr>
          <a:xfrm>
            <a:off x="597726" y="1088395"/>
            <a:ext cx="6153150" cy="4848225"/>
          </a:xfrm>
          <a:prstGeom prst="rect">
            <a:avLst/>
          </a:prstGeom>
        </p:spPr>
      </p:pic>
      <p:sp>
        <p:nvSpPr>
          <p:cNvPr id="5" name="Tekstiruutu 4">
            <a:extLst>
              <a:ext uri="{FF2B5EF4-FFF2-40B4-BE49-F238E27FC236}">
                <a16:creationId xmlns:a16="http://schemas.microsoft.com/office/drawing/2014/main" id="{BEF93C6B-0587-375F-E70B-B046707532D8}"/>
              </a:ext>
            </a:extLst>
          </p:cNvPr>
          <p:cNvSpPr txBox="1"/>
          <p:nvPr/>
        </p:nvSpPr>
        <p:spPr>
          <a:xfrm>
            <a:off x="6950907" y="1940618"/>
            <a:ext cx="4308952"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dirty="0"/>
              <a:t>Molempien sukupuolien puolella näyttää olevan keskimäärin melko tyytyväisiä työtehtäviinsä, paitsi yksi  epätyytyväinen poikkeama löytyy naisten puolella.</a:t>
            </a:r>
          </a:p>
        </p:txBody>
      </p:sp>
      <p:sp>
        <p:nvSpPr>
          <p:cNvPr id="6" name="Tekstiruutu 5">
            <a:extLst>
              <a:ext uri="{FF2B5EF4-FFF2-40B4-BE49-F238E27FC236}">
                <a16:creationId xmlns:a16="http://schemas.microsoft.com/office/drawing/2014/main" id="{CD502B95-856B-1632-DD2B-93E5CDC74967}"/>
              </a:ext>
            </a:extLst>
          </p:cNvPr>
          <p:cNvSpPr txBox="1"/>
          <p:nvPr/>
        </p:nvSpPr>
        <p:spPr>
          <a:xfrm>
            <a:off x="9660091" y="680249"/>
            <a:ext cx="391981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dirty="0"/>
              <a:t>Niko Kahila</a:t>
            </a:r>
          </a:p>
        </p:txBody>
      </p:sp>
    </p:spTree>
    <p:extLst>
      <p:ext uri="{BB962C8B-B14F-4D97-AF65-F5344CB8AC3E}">
        <p14:creationId xmlns:p14="http://schemas.microsoft.com/office/powerpoint/2010/main" val="2963397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A30AEF1A-DD4E-0BD2-3B1E-06F595DA9946}"/>
              </a:ext>
            </a:extLst>
          </p:cNvPr>
          <p:cNvSpPr>
            <a:spLocks noGrp="1"/>
          </p:cNvSpPr>
          <p:nvPr>
            <p:ph type="title"/>
          </p:nvPr>
        </p:nvSpPr>
        <p:spPr/>
        <p:txBody>
          <a:bodyPr/>
          <a:lstStyle/>
          <a:p>
            <a:r>
              <a:rPr lang="fi-FI" dirty="0"/>
              <a:t>Työympäristön tyytyväisyys</a:t>
            </a:r>
          </a:p>
        </p:txBody>
      </p:sp>
      <p:sp>
        <p:nvSpPr>
          <p:cNvPr id="3" name="Tekstin paikkamerkki 2">
            <a:extLst>
              <a:ext uri="{FF2B5EF4-FFF2-40B4-BE49-F238E27FC236}">
                <a16:creationId xmlns:a16="http://schemas.microsoft.com/office/drawing/2014/main" id="{59C761BB-AC5D-88FD-2E1A-8A0AB9B241E1}"/>
              </a:ext>
            </a:extLst>
          </p:cNvPr>
          <p:cNvSpPr>
            <a:spLocks noGrp="1"/>
          </p:cNvSpPr>
          <p:nvPr>
            <p:ph idx="1"/>
          </p:nvPr>
        </p:nvSpPr>
        <p:spPr/>
        <p:txBody>
          <a:bodyPr/>
          <a:lstStyle/>
          <a:p>
            <a:endParaRPr lang="fi-FI"/>
          </a:p>
        </p:txBody>
      </p:sp>
      <p:pic>
        <p:nvPicPr>
          <p:cNvPr id="4" name="Kuva 3" descr="Kuva, joka sisältää kohteen teksti, kuvakaappaus, diagrammi, näyttö&#10;&#10;Tekoälyllä luotu sisältö saattaa olla virheellistä.">
            <a:extLst>
              <a:ext uri="{FF2B5EF4-FFF2-40B4-BE49-F238E27FC236}">
                <a16:creationId xmlns:a16="http://schemas.microsoft.com/office/drawing/2014/main" id="{07D3FD55-09E7-EC23-ABCC-D9AC5BFF52E8}"/>
              </a:ext>
            </a:extLst>
          </p:cNvPr>
          <p:cNvPicPr>
            <a:picLocks noChangeAspect="1"/>
          </p:cNvPicPr>
          <p:nvPr/>
        </p:nvPicPr>
        <p:blipFill>
          <a:blip r:embed="rId2"/>
          <a:stretch>
            <a:fillRect/>
          </a:stretch>
        </p:blipFill>
        <p:spPr>
          <a:xfrm>
            <a:off x="122651" y="1357704"/>
            <a:ext cx="6477000" cy="5280373"/>
          </a:xfrm>
          <a:prstGeom prst="rect">
            <a:avLst/>
          </a:prstGeom>
        </p:spPr>
      </p:pic>
      <p:pic>
        <p:nvPicPr>
          <p:cNvPr id="5" name="Kuva 4" descr="Kuva, joka sisältää kohteen teksti, Fontti, kuvakaappaus, numero&#10;&#10;Tekoälyllä luotu sisältö saattaa olla virheellistä.">
            <a:extLst>
              <a:ext uri="{FF2B5EF4-FFF2-40B4-BE49-F238E27FC236}">
                <a16:creationId xmlns:a16="http://schemas.microsoft.com/office/drawing/2014/main" id="{4319F601-7A10-BD45-55BB-CBC6C6A699E8}"/>
              </a:ext>
            </a:extLst>
          </p:cNvPr>
          <p:cNvPicPr>
            <a:picLocks noChangeAspect="1"/>
          </p:cNvPicPr>
          <p:nvPr/>
        </p:nvPicPr>
        <p:blipFill>
          <a:blip r:embed="rId3"/>
          <a:stretch>
            <a:fillRect/>
          </a:stretch>
        </p:blipFill>
        <p:spPr>
          <a:xfrm>
            <a:off x="6599129" y="1688796"/>
            <a:ext cx="3962400" cy="933450"/>
          </a:xfrm>
          <a:prstGeom prst="rect">
            <a:avLst/>
          </a:prstGeom>
        </p:spPr>
      </p:pic>
      <p:sp>
        <p:nvSpPr>
          <p:cNvPr id="6" name="Tekstiruutu 5">
            <a:extLst>
              <a:ext uri="{FF2B5EF4-FFF2-40B4-BE49-F238E27FC236}">
                <a16:creationId xmlns:a16="http://schemas.microsoft.com/office/drawing/2014/main" id="{6BE6FA4D-9F88-BBFB-C591-DD6892D3EF76}"/>
              </a:ext>
            </a:extLst>
          </p:cNvPr>
          <p:cNvSpPr txBox="1"/>
          <p:nvPr/>
        </p:nvSpPr>
        <p:spPr>
          <a:xfrm>
            <a:off x="7602497" y="3234211"/>
            <a:ext cx="274319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sz="1800" dirty="0"/>
              <a:t>Chi2 Testin tulos oli 0.009 mikä tarkoittaa että sukupuolen ja työympäristö tyytyväisyyden välillä näyttäisi olevan riippuvuutta.</a:t>
            </a:r>
          </a:p>
        </p:txBody>
      </p:sp>
      <p:sp>
        <p:nvSpPr>
          <p:cNvPr id="7" name="Tekstiruutu 6">
            <a:extLst>
              <a:ext uri="{FF2B5EF4-FFF2-40B4-BE49-F238E27FC236}">
                <a16:creationId xmlns:a16="http://schemas.microsoft.com/office/drawing/2014/main" id="{731BC4CD-CAC0-4C50-A3D2-51BF636CCF57}"/>
              </a:ext>
            </a:extLst>
          </p:cNvPr>
          <p:cNvSpPr txBox="1"/>
          <p:nvPr/>
        </p:nvSpPr>
        <p:spPr>
          <a:xfrm>
            <a:off x="9844139" y="697979"/>
            <a:ext cx="299371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dirty="0"/>
              <a:t>Niko Kahila</a:t>
            </a:r>
          </a:p>
        </p:txBody>
      </p:sp>
    </p:spTree>
    <p:extLst>
      <p:ext uri="{BB962C8B-B14F-4D97-AF65-F5344CB8AC3E}">
        <p14:creationId xmlns:p14="http://schemas.microsoft.com/office/powerpoint/2010/main" val="2418915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ED58FF8-6E3E-5C82-9D32-9F19659785EE}"/>
              </a:ext>
            </a:extLst>
          </p:cNvPr>
          <p:cNvSpPr>
            <a:spLocks noGrp="1"/>
          </p:cNvSpPr>
          <p:nvPr>
            <p:ph type="title"/>
          </p:nvPr>
        </p:nvSpPr>
        <p:spPr/>
        <p:txBody>
          <a:bodyPr/>
          <a:lstStyle/>
          <a:p>
            <a:r>
              <a:rPr lang="fi-FI" dirty="0"/>
              <a:t>Palkka tyytyväisyys</a:t>
            </a:r>
          </a:p>
        </p:txBody>
      </p:sp>
      <p:sp>
        <p:nvSpPr>
          <p:cNvPr id="3" name="Tekstin paikkamerkki 2">
            <a:extLst>
              <a:ext uri="{FF2B5EF4-FFF2-40B4-BE49-F238E27FC236}">
                <a16:creationId xmlns:a16="http://schemas.microsoft.com/office/drawing/2014/main" id="{42A68099-4369-08C2-AF8D-2167976F7D17}"/>
              </a:ext>
            </a:extLst>
          </p:cNvPr>
          <p:cNvSpPr>
            <a:spLocks noGrp="1"/>
          </p:cNvSpPr>
          <p:nvPr>
            <p:ph idx="1"/>
          </p:nvPr>
        </p:nvSpPr>
        <p:spPr/>
        <p:txBody>
          <a:bodyPr/>
          <a:lstStyle/>
          <a:p>
            <a:endParaRPr lang="fi-FI"/>
          </a:p>
        </p:txBody>
      </p:sp>
      <p:pic>
        <p:nvPicPr>
          <p:cNvPr id="5" name="Kuva 4" descr="Kuva, joka sisältää kohteen teksti, Fontti, numero, kuvakaappaus&#10;&#10;Tekoälyllä luotu sisältö saattaa olla virheellistä.">
            <a:extLst>
              <a:ext uri="{FF2B5EF4-FFF2-40B4-BE49-F238E27FC236}">
                <a16:creationId xmlns:a16="http://schemas.microsoft.com/office/drawing/2014/main" id="{CE90192E-3BFF-FEDB-29A9-AD09267E5D81}"/>
              </a:ext>
            </a:extLst>
          </p:cNvPr>
          <p:cNvPicPr>
            <a:picLocks noChangeAspect="1"/>
          </p:cNvPicPr>
          <p:nvPr/>
        </p:nvPicPr>
        <p:blipFill>
          <a:blip r:embed="rId2"/>
          <a:stretch>
            <a:fillRect/>
          </a:stretch>
        </p:blipFill>
        <p:spPr>
          <a:xfrm>
            <a:off x="6475599" y="1373001"/>
            <a:ext cx="3824007" cy="1232087"/>
          </a:xfrm>
          <a:prstGeom prst="rect">
            <a:avLst/>
          </a:prstGeom>
        </p:spPr>
      </p:pic>
      <p:sp>
        <p:nvSpPr>
          <p:cNvPr id="6" name="Tekstiruutu 5">
            <a:extLst>
              <a:ext uri="{FF2B5EF4-FFF2-40B4-BE49-F238E27FC236}">
                <a16:creationId xmlns:a16="http://schemas.microsoft.com/office/drawing/2014/main" id="{3C977997-473F-9F88-9C3D-BFCA838320F8}"/>
              </a:ext>
            </a:extLst>
          </p:cNvPr>
          <p:cNvSpPr txBox="1"/>
          <p:nvPr/>
        </p:nvSpPr>
        <p:spPr>
          <a:xfrm>
            <a:off x="6885295" y="3077304"/>
            <a:ext cx="3516405"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sz="1800" dirty="0"/>
              <a:t>Tilastoista huomaa heti että moni miehistä eivät ole tyytyväisiä saamaansa palkkaansa.</a:t>
            </a:r>
          </a:p>
          <a:p>
            <a:endParaRPr lang="fi-FI" sz="1800" dirty="0"/>
          </a:p>
          <a:p>
            <a:r>
              <a:rPr lang="fi-FI" sz="1800" dirty="0"/>
              <a:t>Chi2 testi tulos oli 0.004 mikä tarkoittaa että Palkka tyytyväisyyden ja sukupuolen välillä on riippuvuus.</a:t>
            </a:r>
          </a:p>
        </p:txBody>
      </p:sp>
      <p:pic>
        <p:nvPicPr>
          <p:cNvPr id="7" name="Kuva 6" descr="Kuva, joka sisältää kohteen teksti, kuvakaappaus, näyttö, diagrammi&#10;&#10;Tekoälyllä luotu sisältö saattaa olla virheellistä.">
            <a:extLst>
              <a:ext uri="{FF2B5EF4-FFF2-40B4-BE49-F238E27FC236}">
                <a16:creationId xmlns:a16="http://schemas.microsoft.com/office/drawing/2014/main" id="{76361C6C-1B1F-9676-787B-C892FC75C007}"/>
              </a:ext>
            </a:extLst>
          </p:cNvPr>
          <p:cNvPicPr>
            <a:picLocks noChangeAspect="1"/>
          </p:cNvPicPr>
          <p:nvPr/>
        </p:nvPicPr>
        <p:blipFill>
          <a:blip r:embed="rId3"/>
          <a:stretch>
            <a:fillRect/>
          </a:stretch>
        </p:blipFill>
        <p:spPr>
          <a:xfrm>
            <a:off x="235884" y="1458725"/>
            <a:ext cx="6240556" cy="5139578"/>
          </a:xfrm>
          <a:prstGeom prst="rect">
            <a:avLst/>
          </a:prstGeom>
        </p:spPr>
      </p:pic>
      <p:sp>
        <p:nvSpPr>
          <p:cNvPr id="8" name="Tekstiruutu 7">
            <a:extLst>
              <a:ext uri="{FF2B5EF4-FFF2-40B4-BE49-F238E27FC236}">
                <a16:creationId xmlns:a16="http://schemas.microsoft.com/office/drawing/2014/main" id="{A7DB14D0-F00F-56DD-EF38-4A5C765C9150}"/>
              </a:ext>
            </a:extLst>
          </p:cNvPr>
          <p:cNvSpPr txBox="1"/>
          <p:nvPr/>
        </p:nvSpPr>
        <p:spPr>
          <a:xfrm>
            <a:off x="9702634" y="728047"/>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i-FI" dirty="0"/>
              <a:t>Niko Kahila</a:t>
            </a:r>
          </a:p>
        </p:txBody>
      </p:sp>
    </p:spTree>
    <p:extLst>
      <p:ext uri="{BB962C8B-B14F-4D97-AF65-F5344CB8AC3E}">
        <p14:creationId xmlns:p14="http://schemas.microsoft.com/office/powerpoint/2010/main" val="2862697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0B8B76DC-A340-AB1E-C093-E4E290397083}"/>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03B1257D-78FA-CC21-C81A-9871454C5DA8}"/>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127" name="Google Shape;127;p6">
            <a:extLst>
              <a:ext uri="{FF2B5EF4-FFF2-40B4-BE49-F238E27FC236}">
                <a16:creationId xmlns:a16="http://schemas.microsoft.com/office/drawing/2014/main" id="{AA167BFC-D44A-9AE0-B7C3-DACFDBFB5DA1}"/>
              </a:ext>
            </a:extLst>
          </p:cNvPr>
          <p:cNvSpPr txBox="1">
            <a:spLocks noGrp="1"/>
          </p:cNvSpPr>
          <p:nvPr>
            <p:ph type="title"/>
          </p:nvPr>
        </p:nvSpPr>
        <p:spPr>
          <a:xfrm>
            <a:off x="643467" y="321734"/>
            <a:ext cx="11198466" cy="1135737"/>
          </a:xfrm>
          <a:prstGeom prst="rect">
            <a:avLst/>
          </a:prstGeom>
          <a:noFill/>
          <a:ln>
            <a:noFill/>
          </a:ln>
        </p:spPr>
        <p:txBody>
          <a:bodyPr spcFirstLastPara="1" wrap="square" lIns="91425" tIns="45700" rIns="91425" bIns="45700" anchor="ctr" anchorCtr="0">
            <a:normAutofit/>
          </a:bodyPr>
          <a:lstStyle/>
          <a:p>
            <a:pPr lvl="0">
              <a:buSzPts val="3600"/>
            </a:pPr>
            <a:r>
              <a:rPr lang="en-US" sz="3600" dirty="0"/>
              <a:t>Background analysis (Marriage status)</a:t>
            </a:r>
          </a:p>
        </p:txBody>
      </p:sp>
      <p:sp>
        <p:nvSpPr>
          <p:cNvPr id="128" name="Google Shape;128;p6">
            <a:extLst>
              <a:ext uri="{FF2B5EF4-FFF2-40B4-BE49-F238E27FC236}">
                <a16:creationId xmlns:a16="http://schemas.microsoft.com/office/drawing/2014/main" id="{162EF3C5-9BA7-0CD6-342D-9AB7C14D6E14}"/>
              </a:ext>
            </a:extLst>
          </p:cNvPr>
          <p:cNvSpPr txBox="1">
            <a:spLocks noGrp="1"/>
          </p:cNvSpPr>
          <p:nvPr>
            <p:ph type="body" idx="1"/>
          </p:nvPr>
        </p:nvSpPr>
        <p:spPr>
          <a:xfrm>
            <a:off x="643469" y="1782981"/>
            <a:ext cx="4008384"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dirty="0"/>
              <a:t>Based on the survey, the majority of workers are married of otherwise in a relationship.</a:t>
            </a:r>
            <a:endParaRPr dirty="0"/>
          </a:p>
        </p:txBody>
      </p:sp>
      <p:grpSp>
        <p:nvGrpSpPr>
          <p:cNvPr id="129" name="Google Shape;129;p6">
            <a:extLst>
              <a:ext uri="{FF2B5EF4-FFF2-40B4-BE49-F238E27FC236}">
                <a16:creationId xmlns:a16="http://schemas.microsoft.com/office/drawing/2014/main" id="{31E34BD8-ABDE-68F6-6859-D888F235F3E4}"/>
              </a:ext>
            </a:extLst>
          </p:cNvPr>
          <p:cNvGrpSpPr/>
          <p:nvPr/>
        </p:nvGrpSpPr>
        <p:grpSpPr>
          <a:xfrm>
            <a:off x="0" y="4601497"/>
            <a:ext cx="1014060" cy="2017580"/>
            <a:chOff x="0" y="4601497"/>
            <a:chExt cx="1014060" cy="2017580"/>
          </a:xfrm>
        </p:grpSpPr>
        <p:sp>
          <p:nvSpPr>
            <p:cNvPr id="130" name="Google Shape;130;p6">
              <a:extLst>
                <a:ext uri="{FF2B5EF4-FFF2-40B4-BE49-F238E27FC236}">
                  <a16:creationId xmlns:a16="http://schemas.microsoft.com/office/drawing/2014/main" id="{AA459609-F922-F300-D7C5-202C88C7D0D0}"/>
                </a:ext>
              </a:extLst>
            </p:cNvPr>
            <p:cNvSpPr/>
            <p:nvPr/>
          </p:nvSpPr>
          <p:spPr>
            <a:xfrm rot="5400000">
              <a:off x="-501760" y="5103257"/>
              <a:ext cx="2017580" cy="1014060"/>
            </a:xfrm>
            <a:prstGeom prst="triangle">
              <a:avLst>
                <a:gd name="adj" fmla="val 50000"/>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6">
              <a:extLst>
                <a:ext uri="{FF2B5EF4-FFF2-40B4-BE49-F238E27FC236}">
                  <a16:creationId xmlns:a16="http://schemas.microsoft.com/office/drawing/2014/main" id="{02FDF257-8CC5-4736-1B7F-EB6802E33500}"/>
                </a:ext>
              </a:extLst>
            </p:cNvPr>
            <p:cNvSpPr/>
            <p:nvPr/>
          </p:nvSpPr>
          <p:spPr>
            <a:xfrm rot="2700000">
              <a:off x="427916" y="5728708"/>
              <a:ext cx="485578" cy="485578"/>
            </a:xfrm>
            <a:prstGeom prst="rect">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33" name="Google Shape;133;p6">
            <a:extLst>
              <a:ext uri="{FF2B5EF4-FFF2-40B4-BE49-F238E27FC236}">
                <a16:creationId xmlns:a16="http://schemas.microsoft.com/office/drawing/2014/main" id="{BCB16A3F-FDD6-6FD4-A1D2-4BA625315082}"/>
              </a:ext>
            </a:extLst>
          </p:cNvPr>
          <p:cNvGrpSpPr/>
          <p:nvPr/>
        </p:nvGrpSpPr>
        <p:grpSpPr>
          <a:xfrm>
            <a:off x="11219290" y="1"/>
            <a:ext cx="972709" cy="1935307"/>
            <a:chOff x="10918968" y="713127"/>
            <a:chExt cx="1273032" cy="2532832"/>
          </a:xfrm>
        </p:grpSpPr>
        <p:sp>
          <p:nvSpPr>
            <p:cNvPr id="134" name="Google Shape;134;p6">
              <a:extLst>
                <a:ext uri="{FF2B5EF4-FFF2-40B4-BE49-F238E27FC236}">
                  <a16:creationId xmlns:a16="http://schemas.microsoft.com/office/drawing/2014/main" id="{3239CFDC-5E53-6CE6-903E-F7B5110B9F97}"/>
                </a:ext>
              </a:extLst>
            </p:cNvPr>
            <p:cNvSpPr/>
            <p:nvPr/>
          </p:nvSpPr>
          <p:spPr>
            <a:xfrm rot="2700000">
              <a:off x="11052629" y="2120024"/>
              <a:ext cx="645368" cy="645368"/>
            </a:xfrm>
            <a:prstGeom prst="rect">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 name="Google Shape;135;p6">
              <a:extLst>
                <a:ext uri="{FF2B5EF4-FFF2-40B4-BE49-F238E27FC236}">
                  <a16:creationId xmlns:a16="http://schemas.microsoft.com/office/drawing/2014/main" id="{52063E9E-6B7C-24FF-C255-9E2952D87399}"/>
                </a:ext>
              </a:extLst>
            </p:cNvPr>
            <p:cNvSpPr/>
            <p:nvPr/>
          </p:nvSpPr>
          <p:spPr>
            <a:xfrm rot="-5400000">
              <a:off x="10289068" y="1343027"/>
              <a:ext cx="2532832" cy="1273032"/>
            </a:xfrm>
            <a:prstGeom prst="triangle">
              <a:avLst>
                <a:gd name="adj" fmla="val 50000"/>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 name="Kuva 3" descr="Kuva, joka sisältää kohteen teksti, kuvakaappaus, Fontti, diagrammi&#10;&#10;Tekoälyllä luotu sisältö voi olla virheellistä.">
            <a:extLst>
              <a:ext uri="{FF2B5EF4-FFF2-40B4-BE49-F238E27FC236}">
                <a16:creationId xmlns:a16="http://schemas.microsoft.com/office/drawing/2014/main" id="{C97C55E8-D5F8-E4F6-E59E-7BD51541E350}"/>
              </a:ext>
            </a:extLst>
          </p:cNvPr>
          <p:cNvPicPr>
            <a:picLocks noChangeAspect="1"/>
          </p:cNvPicPr>
          <p:nvPr/>
        </p:nvPicPr>
        <p:blipFill>
          <a:blip r:embed="rId3"/>
          <a:stretch>
            <a:fillRect/>
          </a:stretch>
        </p:blipFill>
        <p:spPr>
          <a:xfrm>
            <a:off x="5666514" y="1457471"/>
            <a:ext cx="4726864" cy="4994193"/>
          </a:xfrm>
          <a:prstGeom prst="rect">
            <a:avLst/>
          </a:prstGeom>
        </p:spPr>
      </p:pic>
      <p:pic>
        <p:nvPicPr>
          <p:cNvPr id="8" name="Kuva 7">
            <a:extLst>
              <a:ext uri="{FF2B5EF4-FFF2-40B4-BE49-F238E27FC236}">
                <a16:creationId xmlns:a16="http://schemas.microsoft.com/office/drawing/2014/main" id="{5F3EEEF0-90D5-F353-C61E-E51133531250}"/>
              </a:ext>
            </a:extLst>
          </p:cNvPr>
          <p:cNvPicPr>
            <a:picLocks noChangeAspect="1"/>
          </p:cNvPicPr>
          <p:nvPr/>
        </p:nvPicPr>
        <p:blipFill>
          <a:blip r:embed="rId4"/>
          <a:stretch>
            <a:fillRect/>
          </a:stretch>
        </p:blipFill>
        <p:spPr>
          <a:xfrm>
            <a:off x="896364" y="3336471"/>
            <a:ext cx="3226393" cy="1642528"/>
          </a:xfrm>
          <a:prstGeom prst="rect">
            <a:avLst/>
          </a:prstGeom>
        </p:spPr>
      </p:pic>
      <p:sp>
        <p:nvSpPr>
          <p:cNvPr id="3" name="TextBox 2">
            <a:extLst>
              <a:ext uri="{FF2B5EF4-FFF2-40B4-BE49-F238E27FC236}">
                <a16:creationId xmlns:a16="http://schemas.microsoft.com/office/drawing/2014/main" id="{9CA86DE1-2123-1EB9-CD9B-7C7286489620}"/>
              </a:ext>
            </a:extLst>
          </p:cNvPr>
          <p:cNvSpPr txBox="1"/>
          <p:nvPr/>
        </p:nvSpPr>
        <p:spPr>
          <a:xfrm>
            <a:off x="10728157" y="290762"/>
            <a:ext cx="138363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Aki </a:t>
            </a:r>
            <a:r>
              <a:rPr lang="en-US" dirty="0" err="1"/>
              <a:t>Sartolahti</a:t>
            </a:r>
          </a:p>
        </p:txBody>
      </p:sp>
    </p:spTree>
    <p:extLst>
      <p:ext uri="{BB962C8B-B14F-4D97-AF65-F5344CB8AC3E}">
        <p14:creationId xmlns:p14="http://schemas.microsoft.com/office/powerpoint/2010/main" val="7417991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74A66944-C351-FA5C-B513-A3D6D3088E7D}"/>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07A76086-DA73-FA52-EBF1-3F2BC5B64448}"/>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127" name="Google Shape;127;p6">
            <a:extLst>
              <a:ext uri="{FF2B5EF4-FFF2-40B4-BE49-F238E27FC236}">
                <a16:creationId xmlns:a16="http://schemas.microsoft.com/office/drawing/2014/main" id="{E4E43E1B-5A80-13F4-835F-A5313E28BFD6}"/>
              </a:ext>
            </a:extLst>
          </p:cNvPr>
          <p:cNvSpPr txBox="1">
            <a:spLocks noGrp="1"/>
          </p:cNvSpPr>
          <p:nvPr>
            <p:ph type="title"/>
          </p:nvPr>
        </p:nvSpPr>
        <p:spPr>
          <a:xfrm>
            <a:off x="643467" y="321734"/>
            <a:ext cx="11198466" cy="1135737"/>
          </a:xfrm>
          <a:prstGeom prst="rect">
            <a:avLst/>
          </a:prstGeom>
          <a:noFill/>
          <a:ln>
            <a:noFill/>
          </a:ln>
        </p:spPr>
        <p:txBody>
          <a:bodyPr spcFirstLastPara="1" wrap="square" lIns="91425" tIns="45700" rIns="91425" bIns="45700" anchor="ctr" anchorCtr="0">
            <a:normAutofit/>
          </a:bodyPr>
          <a:lstStyle/>
          <a:p>
            <a:pPr lvl="0">
              <a:buSzPts val="3600"/>
            </a:pPr>
            <a:r>
              <a:rPr lang="en-US" sz="3600" dirty="0"/>
              <a:t>Background analysis (Years of service)</a:t>
            </a:r>
            <a:endParaRPr sz="3600" dirty="0"/>
          </a:p>
        </p:txBody>
      </p:sp>
      <p:sp>
        <p:nvSpPr>
          <p:cNvPr id="128" name="Google Shape;128;p6">
            <a:extLst>
              <a:ext uri="{FF2B5EF4-FFF2-40B4-BE49-F238E27FC236}">
                <a16:creationId xmlns:a16="http://schemas.microsoft.com/office/drawing/2014/main" id="{E84EA060-9A1F-EDF4-E4B6-F80DF49EBE0F}"/>
              </a:ext>
            </a:extLst>
          </p:cNvPr>
          <p:cNvSpPr txBox="1">
            <a:spLocks noGrp="1"/>
          </p:cNvSpPr>
          <p:nvPr>
            <p:ph type="body" idx="1"/>
          </p:nvPr>
        </p:nvSpPr>
        <p:spPr>
          <a:xfrm>
            <a:off x="643469" y="1782981"/>
            <a:ext cx="4008384"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fi-FI" dirty="0" err="1"/>
              <a:t>Most</a:t>
            </a:r>
            <a:r>
              <a:rPr lang="fi-FI" dirty="0"/>
              <a:t> </a:t>
            </a:r>
            <a:r>
              <a:rPr lang="fi-FI" dirty="0" err="1"/>
              <a:t>workers</a:t>
            </a:r>
            <a:r>
              <a:rPr lang="fi-FI" dirty="0"/>
              <a:t> </a:t>
            </a:r>
            <a:r>
              <a:rPr lang="fi-FI" dirty="0" err="1"/>
              <a:t>appear</a:t>
            </a:r>
            <a:r>
              <a:rPr lang="fi-FI" dirty="0"/>
              <a:t> to </a:t>
            </a:r>
            <a:r>
              <a:rPr lang="fi-FI" dirty="0" err="1"/>
              <a:t>stay</a:t>
            </a:r>
            <a:r>
              <a:rPr lang="fi-FI" dirty="0"/>
              <a:t> </a:t>
            </a:r>
            <a:r>
              <a:rPr lang="fi-FI" dirty="0" err="1"/>
              <a:t>around</a:t>
            </a:r>
            <a:r>
              <a:rPr lang="fi-FI" dirty="0"/>
              <a:t> 0-5 </a:t>
            </a:r>
            <a:r>
              <a:rPr lang="fi-FI" dirty="0" err="1"/>
              <a:t>years</a:t>
            </a:r>
            <a:r>
              <a:rPr lang="fi-FI" dirty="0"/>
              <a:t> on </a:t>
            </a:r>
            <a:r>
              <a:rPr lang="fi-FI" dirty="0" err="1"/>
              <a:t>the</a:t>
            </a:r>
            <a:r>
              <a:rPr lang="fi-FI" dirty="0"/>
              <a:t> </a:t>
            </a:r>
            <a:r>
              <a:rPr lang="fi-FI" dirty="0" err="1"/>
              <a:t>job</a:t>
            </a:r>
            <a:r>
              <a:rPr lang="fi-FI" dirty="0"/>
              <a:t>.</a:t>
            </a:r>
            <a:endParaRPr dirty="0"/>
          </a:p>
        </p:txBody>
      </p:sp>
      <p:grpSp>
        <p:nvGrpSpPr>
          <p:cNvPr id="129" name="Google Shape;129;p6">
            <a:extLst>
              <a:ext uri="{FF2B5EF4-FFF2-40B4-BE49-F238E27FC236}">
                <a16:creationId xmlns:a16="http://schemas.microsoft.com/office/drawing/2014/main" id="{FC31CA68-2DB7-11F2-4AEA-01174B535429}"/>
              </a:ext>
            </a:extLst>
          </p:cNvPr>
          <p:cNvGrpSpPr/>
          <p:nvPr/>
        </p:nvGrpSpPr>
        <p:grpSpPr>
          <a:xfrm>
            <a:off x="0" y="4601497"/>
            <a:ext cx="1014060" cy="2017580"/>
            <a:chOff x="0" y="4601497"/>
            <a:chExt cx="1014060" cy="2017580"/>
          </a:xfrm>
        </p:grpSpPr>
        <p:sp>
          <p:nvSpPr>
            <p:cNvPr id="130" name="Google Shape;130;p6">
              <a:extLst>
                <a:ext uri="{FF2B5EF4-FFF2-40B4-BE49-F238E27FC236}">
                  <a16:creationId xmlns:a16="http://schemas.microsoft.com/office/drawing/2014/main" id="{293C1E41-E837-4969-4535-272BADED2C70}"/>
                </a:ext>
              </a:extLst>
            </p:cNvPr>
            <p:cNvSpPr/>
            <p:nvPr/>
          </p:nvSpPr>
          <p:spPr>
            <a:xfrm rot="5400000">
              <a:off x="-501760" y="5103257"/>
              <a:ext cx="2017580" cy="1014060"/>
            </a:xfrm>
            <a:prstGeom prst="triangle">
              <a:avLst>
                <a:gd name="adj" fmla="val 50000"/>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6">
              <a:extLst>
                <a:ext uri="{FF2B5EF4-FFF2-40B4-BE49-F238E27FC236}">
                  <a16:creationId xmlns:a16="http://schemas.microsoft.com/office/drawing/2014/main" id="{12F1BF37-394C-BBA9-FE18-1CDC52EFF5C9}"/>
                </a:ext>
              </a:extLst>
            </p:cNvPr>
            <p:cNvSpPr/>
            <p:nvPr/>
          </p:nvSpPr>
          <p:spPr>
            <a:xfrm rot="2700000">
              <a:off x="427916" y="5728708"/>
              <a:ext cx="485578" cy="485578"/>
            </a:xfrm>
            <a:prstGeom prst="rect">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33" name="Google Shape;133;p6">
            <a:extLst>
              <a:ext uri="{FF2B5EF4-FFF2-40B4-BE49-F238E27FC236}">
                <a16:creationId xmlns:a16="http://schemas.microsoft.com/office/drawing/2014/main" id="{FD1C45DE-68C0-BE6A-C658-FF6073FE3522}"/>
              </a:ext>
            </a:extLst>
          </p:cNvPr>
          <p:cNvGrpSpPr/>
          <p:nvPr/>
        </p:nvGrpSpPr>
        <p:grpSpPr>
          <a:xfrm>
            <a:off x="11219290" y="1"/>
            <a:ext cx="972709" cy="1935307"/>
            <a:chOff x="10918968" y="713127"/>
            <a:chExt cx="1273032" cy="2532832"/>
          </a:xfrm>
        </p:grpSpPr>
        <p:sp>
          <p:nvSpPr>
            <p:cNvPr id="134" name="Google Shape;134;p6">
              <a:extLst>
                <a:ext uri="{FF2B5EF4-FFF2-40B4-BE49-F238E27FC236}">
                  <a16:creationId xmlns:a16="http://schemas.microsoft.com/office/drawing/2014/main" id="{308C0363-D448-B886-C307-CE3C5E7AFAAE}"/>
                </a:ext>
              </a:extLst>
            </p:cNvPr>
            <p:cNvSpPr/>
            <p:nvPr/>
          </p:nvSpPr>
          <p:spPr>
            <a:xfrm rot="2700000">
              <a:off x="11052629" y="2120024"/>
              <a:ext cx="645368" cy="645368"/>
            </a:xfrm>
            <a:prstGeom prst="rect">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 name="Google Shape;135;p6">
              <a:extLst>
                <a:ext uri="{FF2B5EF4-FFF2-40B4-BE49-F238E27FC236}">
                  <a16:creationId xmlns:a16="http://schemas.microsoft.com/office/drawing/2014/main" id="{6D6BDCAE-25FC-ECD9-B84A-B0810852F954}"/>
                </a:ext>
              </a:extLst>
            </p:cNvPr>
            <p:cNvSpPr/>
            <p:nvPr/>
          </p:nvSpPr>
          <p:spPr>
            <a:xfrm rot="-5400000">
              <a:off x="10289068" y="1343027"/>
              <a:ext cx="2532832" cy="1273032"/>
            </a:xfrm>
            <a:prstGeom prst="triangle">
              <a:avLst>
                <a:gd name="adj" fmla="val 50000"/>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 name="Kuva 2" descr="Kuva, joka sisältää kohteen teksti, kuvakaappaus, diagrammi, Suorakaide&#10;&#10;Tekoälyllä luotu sisältö voi olla virheellistä.">
            <a:extLst>
              <a:ext uri="{FF2B5EF4-FFF2-40B4-BE49-F238E27FC236}">
                <a16:creationId xmlns:a16="http://schemas.microsoft.com/office/drawing/2014/main" id="{3A3AC12B-A963-0BDE-6C92-E342B0A56452}"/>
              </a:ext>
            </a:extLst>
          </p:cNvPr>
          <p:cNvPicPr>
            <a:picLocks noChangeAspect="1"/>
          </p:cNvPicPr>
          <p:nvPr/>
        </p:nvPicPr>
        <p:blipFill>
          <a:blip r:embed="rId3"/>
          <a:stretch>
            <a:fillRect/>
          </a:stretch>
        </p:blipFill>
        <p:spPr>
          <a:xfrm>
            <a:off x="5112325" y="1260114"/>
            <a:ext cx="6619203" cy="5358963"/>
          </a:xfrm>
          <a:prstGeom prst="rect">
            <a:avLst/>
          </a:prstGeom>
        </p:spPr>
      </p:pic>
      <p:pic>
        <p:nvPicPr>
          <p:cNvPr id="6" name="Kuva 5">
            <a:extLst>
              <a:ext uri="{FF2B5EF4-FFF2-40B4-BE49-F238E27FC236}">
                <a16:creationId xmlns:a16="http://schemas.microsoft.com/office/drawing/2014/main" id="{A24A9DDF-4392-29AE-22C3-286283B14328}"/>
              </a:ext>
            </a:extLst>
          </p:cNvPr>
          <p:cNvPicPr>
            <a:picLocks noChangeAspect="1"/>
          </p:cNvPicPr>
          <p:nvPr/>
        </p:nvPicPr>
        <p:blipFill>
          <a:blip r:embed="rId4"/>
          <a:stretch>
            <a:fillRect/>
          </a:stretch>
        </p:blipFill>
        <p:spPr>
          <a:xfrm>
            <a:off x="1014060" y="3429000"/>
            <a:ext cx="2451126" cy="2199140"/>
          </a:xfrm>
          <a:prstGeom prst="rect">
            <a:avLst/>
          </a:prstGeom>
        </p:spPr>
      </p:pic>
      <p:sp>
        <p:nvSpPr>
          <p:cNvPr id="4" name="TextBox 3">
            <a:extLst>
              <a:ext uri="{FF2B5EF4-FFF2-40B4-BE49-F238E27FC236}">
                <a16:creationId xmlns:a16="http://schemas.microsoft.com/office/drawing/2014/main" id="{0DA7D35B-6123-27A6-E0F3-E855CE43695C}"/>
              </a:ext>
            </a:extLst>
          </p:cNvPr>
          <p:cNvSpPr txBox="1"/>
          <p:nvPr/>
        </p:nvSpPr>
        <p:spPr>
          <a:xfrm>
            <a:off x="10728157" y="290762"/>
            <a:ext cx="138363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Aki </a:t>
            </a:r>
            <a:r>
              <a:rPr lang="en-US" dirty="0" err="1"/>
              <a:t>Sartolahti</a:t>
            </a:r>
          </a:p>
        </p:txBody>
      </p:sp>
    </p:spTree>
    <p:extLst>
      <p:ext uri="{BB962C8B-B14F-4D97-AF65-F5344CB8AC3E}">
        <p14:creationId xmlns:p14="http://schemas.microsoft.com/office/powerpoint/2010/main" val="397942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3202051B-BC6A-ACAA-7237-64654572B135}"/>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B1BF9B65-26F8-67FB-2B41-B50FEB2E4C22}"/>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127" name="Google Shape;127;p6">
            <a:extLst>
              <a:ext uri="{FF2B5EF4-FFF2-40B4-BE49-F238E27FC236}">
                <a16:creationId xmlns:a16="http://schemas.microsoft.com/office/drawing/2014/main" id="{B94F3731-CD6E-C5EE-C647-7CFC7974AC75}"/>
              </a:ext>
            </a:extLst>
          </p:cNvPr>
          <p:cNvSpPr txBox="1">
            <a:spLocks noGrp="1"/>
          </p:cNvSpPr>
          <p:nvPr>
            <p:ph type="title"/>
          </p:nvPr>
        </p:nvSpPr>
        <p:spPr>
          <a:xfrm>
            <a:off x="643467" y="321734"/>
            <a:ext cx="11198466"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dirty="0"/>
              <a:t>Background analysis (Marriage status &amp; Years of service)</a:t>
            </a:r>
            <a:endParaRPr sz="3600" dirty="0"/>
          </a:p>
        </p:txBody>
      </p:sp>
      <p:sp>
        <p:nvSpPr>
          <p:cNvPr id="128" name="Google Shape;128;p6">
            <a:extLst>
              <a:ext uri="{FF2B5EF4-FFF2-40B4-BE49-F238E27FC236}">
                <a16:creationId xmlns:a16="http://schemas.microsoft.com/office/drawing/2014/main" id="{8A27EA2F-6B73-3FBC-D950-BF8C73BE6EFD}"/>
              </a:ext>
            </a:extLst>
          </p:cNvPr>
          <p:cNvSpPr txBox="1">
            <a:spLocks noGrp="1"/>
          </p:cNvSpPr>
          <p:nvPr>
            <p:ph idx="1"/>
          </p:nvPr>
        </p:nvSpPr>
        <p:spPr>
          <a:xfrm>
            <a:off x="643469" y="1782981"/>
            <a:ext cx="4008384"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dirty="0"/>
              <a:t>Based on the survey, there is a correlation between a worker being married and the time they stay on the job, as shown in the boxplot diagram.</a:t>
            </a:r>
            <a:endParaRPr dirty="0"/>
          </a:p>
          <a:p>
            <a:pPr marL="228600" lvl="0" indent="-228600" algn="l" rtl="0">
              <a:lnSpc>
                <a:spcPct val="90000"/>
              </a:lnSpc>
              <a:spcBef>
                <a:spcPts val="1000"/>
              </a:spcBef>
              <a:spcAft>
                <a:spcPts val="0"/>
              </a:spcAft>
              <a:buClr>
                <a:schemeClr val="dk1"/>
              </a:buClr>
              <a:buSzPts val="2000"/>
              <a:buChar char="•"/>
            </a:pPr>
            <a:r>
              <a:rPr lang="en-US" sz="2000" dirty="0"/>
              <a:t>Based on this analysis workers who are married tend to stay working for longer number of years.</a:t>
            </a:r>
            <a:endParaRPr sz="2000" dirty="0"/>
          </a:p>
          <a:p>
            <a:pPr marL="228600" lvl="0" indent="-228600" algn="l" rtl="0">
              <a:lnSpc>
                <a:spcPct val="90000"/>
              </a:lnSpc>
              <a:spcBef>
                <a:spcPts val="1000"/>
              </a:spcBef>
              <a:spcAft>
                <a:spcPts val="0"/>
              </a:spcAft>
              <a:buClr>
                <a:schemeClr val="dk1"/>
              </a:buClr>
              <a:buSzPts val="2000"/>
              <a:buChar char="•"/>
            </a:pPr>
            <a:r>
              <a:rPr lang="fi-FI" sz="2000" dirty="0" err="1"/>
              <a:t>Many</a:t>
            </a:r>
            <a:r>
              <a:rPr lang="fi-FI" sz="2000" dirty="0"/>
              <a:t> </a:t>
            </a:r>
            <a:r>
              <a:rPr lang="fi-FI" sz="2000" dirty="0" err="1"/>
              <a:t>married</a:t>
            </a:r>
            <a:r>
              <a:rPr lang="fi-FI" sz="2000" dirty="0"/>
              <a:t> </a:t>
            </a:r>
            <a:r>
              <a:rPr lang="fi-FI" sz="2000" dirty="0" err="1"/>
              <a:t>workers</a:t>
            </a:r>
            <a:r>
              <a:rPr lang="fi-FI" sz="2000" dirty="0"/>
              <a:t> </a:t>
            </a:r>
            <a:r>
              <a:rPr lang="fi-FI" sz="2000" dirty="0" err="1"/>
              <a:t>reach</a:t>
            </a:r>
            <a:r>
              <a:rPr lang="fi-FI" sz="2000" dirty="0"/>
              <a:t> a </a:t>
            </a:r>
            <a:r>
              <a:rPr lang="fi-FI" sz="2000" dirty="0" err="1"/>
              <a:t>higher</a:t>
            </a:r>
            <a:r>
              <a:rPr lang="fi-FI" sz="2000" dirty="0"/>
              <a:t> </a:t>
            </a:r>
            <a:r>
              <a:rPr lang="fi-FI" sz="2000" dirty="0" err="1"/>
              <a:t>number</a:t>
            </a:r>
            <a:r>
              <a:rPr lang="fi-FI" sz="2000" dirty="0"/>
              <a:t> of </a:t>
            </a:r>
            <a:r>
              <a:rPr lang="fi-FI" sz="2000" dirty="0" err="1"/>
              <a:t>years</a:t>
            </a:r>
            <a:r>
              <a:rPr lang="fi-FI" sz="2000" dirty="0"/>
              <a:t> </a:t>
            </a:r>
            <a:r>
              <a:rPr lang="fi-FI" sz="2000" dirty="0" err="1"/>
              <a:t>that</a:t>
            </a:r>
            <a:r>
              <a:rPr lang="fi-FI" sz="2000" dirty="0"/>
              <a:t> </a:t>
            </a:r>
            <a:r>
              <a:rPr lang="fi-FI" sz="2000" dirty="0" err="1"/>
              <a:t>none</a:t>
            </a:r>
            <a:r>
              <a:rPr lang="fi-FI" sz="2000" dirty="0"/>
              <a:t> of </a:t>
            </a:r>
            <a:r>
              <a:rPr lang="fi-FI" sz="2000" dirty="0" err="1"/>
              <a:t>the</a:t>
            </a:r>
            <a:r>
              <a:rPr lang="fi-FI" sz="2000" dirty="0"/>
              <a:t> single </a:t>
            </a:r>
            <a:r>
              <a:rPr lang="fi-FI" sz="2000" dirty="0" err="1"/>
              <a:t>workers</a:t>
            </a:r>
            <a:r>
              <a:rPr lang="fi-FI" sz="2000" dirty="0"/>
              <a:t> </a:t>
            </a:r>
            <a:r>
              <a:rPr lang="fi-FI" sz="2000" dirty="0" err="1"/>
              <a:t>do</a:t>
            </a:r>
            <a:r>
              <a:rPr lang="fi-FI" sz="2000" dirty="0"/>
              <a:t>, </a:t>
            </a:r>
            <a:r>
              <a:rPr lang="fi-FI" sz="2000" dirty="0" err="1"/>
              <a:t>based</a:t>
            </a:r>
            <a:r>
              <a:rPr lang="fi-FI" sz="2000" dirty="0"/>
              <a:t> on </a:t>
            </a:r>
            <a:r>
              <a:rPr lang="fi-FI" sz="2000" dirty="0" err="1"/>
              <a:t>the</a:t>
            </a:r>
            <a:r>
              <a:rPr lang="fi-FI" sz="2000" dirty="0"/>
              <a:t> </a:t>
            </a:r>
            <a:r>
              <a:rPr lang="fi-FI" sz="2000" dirty="0" err="1"/>
              <a:t>survey</a:t>
            </a:r>
            <a:r>
              <a:rPr lang="fi-FI" sz="2000" dirty="0"/>
              <a:t> data.</a:t>
            </a:r>
            <a:endParaRPr dirty="0"/>
          </a:p>
        </p:txBody>
      </p:sp>
      <p:grpSp>
        <p:nvGrpSpPr>
          <p:cNvPr id="129" name="Google Shape;129;p6">
            <a:extLst>
              <a:ext uri="{FF2B5EF4-FFF2-40B4-BE49-F238E27FC236}">
                <a16:creationId xmlns:a16="http://schemas.microsoft.com/office/drawing/2014/main" id="{55DA2CE1-1182-8C6B-6DFC-3C3F081A62BE}"/>
              </a:ext>
            </a:extLst>
          </p:cNvPr>
          <p:cNvGrpSpPr/>
          <p:nvPr/>
        </p:nvGrpSpPr>
        <p:grpSpPr>
          <a:xfrm>
            <a:off x="0" y="4601497"/>
            <a:ext cx="1014060" cy="2017580"/>
            <a:chOff x="0" y="4601497"/>
            <a:chExt cx="1014060" cy="2017580"/>
          </a:xfrm>
        </p:grpSpPr>
        <p:sp>
          <p:nvSpPr>
            <p:cNvPr id="130" name="Google Shape;130;p6">
              <a:extLst>
                <a:ext uri="{FF2B5EF4-FFF2-40B4-BE49-F238E27FC236}">
                  <a16:creationId xmlns:a16="http://schemas.microsoft.com/office/drawing/2014/main" id="{6935E946-6768-4DBF-FB31-28449B2438F2}"/>
                </a:ext>
              </a:extLst>
            </p:cNvPr>
            <p:cNvSpPr/>
            <p:nvPr/>
          </p:nvSpPr>
          <p:spPr>
            <a:xfrm rot="5400000">
              <a:off x="-501760" y="5103257"/>
              <a:ext cx="2017580" cy="1014060"/>
            </a:xfrm>
            <a:prstGeom prst="triangle">
              <a:avLst>
                <a:gd name="adj" fmla="val 50000"/>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6">
              <a:extLst>
                <a:ext uri="{FF2B5EF4-FFF2-40B4-BE49-F238E27FC236}">
                  <a16:creationId xmlns:a16="http://schemas.microsoft.com/office/drawing/2014/main" id="{BB3E5878-87C1-76B8-A83F-65FD8B106601}"/>
                </a:ext>
              </a:extLst>
            </p:cNvPr>
            <p:cNvSpPr/>
            <p:nvPr/>
          </p:nvSpPr>
          <p:spPr>
            <a:xfrm rot="2700000">
              <a:off x="427916" y="5728708"/>
              <a:ext cx="485578" cy="485578"/>
            </a:xfrm>
            <a:prstGeom prst="rect">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33" name="Google Shape;133;p6">
            <a:extLst>
              <a:ext uri="{FF2B5EF4-FFF2-40B4-BE49-F238E27FC236}">
                <a16:creationId xmlns:a16="http://schemas.microsoft.com/office/drawing/2014/main" id="{B8E1A9C4-ACBF-D958-6E34-9A6CB0452609}"/>
              </a:ext>
            </a:extLst>
          </p:cNvPr>
          <p:cNvGrpSpPr/>
          <p:nvPr/>
        </p:nvGrpSpPr>
        <p:grpSpPr>
          <a:xfrm>
            <a:off x="11219290" y="1"/>
            <a:ext cx="972709" cy="1935307"/>
            <a:chOff x="10918968" y="713127"/>
            <a:chExt cx="1273032" cy="2532832"/>
          </a:xfrm>
        </p:grpSpPr>
        <p:sp>
          <p:nvSpPr>
            <p:cNvPr id="134" name="Google Shape;134;p6">
              <a:extLst>
                <a:ext uri="{FF2B5EF4-FFF2-40B4-BE49-F238E27FC236}">
                  <a16:creationId xmlns:a16="http://schemas.microsoft.com/office/drawing/2014/main" id="{7A6994CA-892F-E04D-7EE3-01B89876E7C0}"/>
                </a:ext>
              </a:extLst>
            </p:cNvPr>
            <p:cNvSpPr/>
            <p:nvPr/>
          </p:nvSpPr>
          <p:spPr>
            <a:xfrm rot="2700000">
              <a:off x="11052629" y="2120024"/>
              <a:ext cx="645368" cy="645368"/>
            </a:xfrm>
            <a:prstGeom prst="rect">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 name="Google Shape;135;p6">
              <a:extLst>
                <a:ext uri="{FF2B5EF4-FFF2-40B4-BE49-F238E27FC236}">
                  <a16:creationId xmlns:a16="http://schemas.microsoft.com/office/drawing/2014/main" id="{34EDE358-9225-4E99-2F7A-220E0A93C134}"/>
                </a:ext>
              </a:extLst>
            </p:cNvPr>
            <p:cNvSpPr/>
            <p:nvPr/>
          </p:nvSpPr>
          <p:spPr>
            <a:xfrm rot="-5400000">
              <a:off x="10289068" y="1343027"/>
              <a:ext cx="2532832" cy="1273032"/>
            </a:xfrm>
            <a:prstGeom prst="triangle">
              <a:avLst>
                <a:gd name="adj" fmla="val 50000"/>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 name="Kuva 2" descr="Kuva, joka sisältää kohteen teksti, kuvakaappaus, diagrammi, Suorakaide&#10;&#10;Tekoälyllä luotu sisältö voi olla virheellistä.">
            <a:extLst>
              <a:ext uri="{FF2B5EF4-FFF2-40B4-BE49-F238E27FC236}">
                <a16:creationId xmlns:a16="http://schemas.microsoft.com/office/drawing/2014/main" id="{38371441-9A6F-EAC2-AF95-2DC0755D8F13}"/>
              </a:ext>
            </a:extLst>
          </p:cNvPr>
          <p:cNvPicPr>
            <a:picLocks noChangeAspect="1"/>
          </p:cNvPicPr>
          <p:nvPr/>
        </p:nvPicPr>
        <p:blipFill>
          <a:blip r:embed="rId3"/>
          <a:stretch>
            <a:fillRect/>
          </a:stretch>
        </p:blipFill>
        <p:spPr>
          <a:xfrm>
            <a:off x="5375641" y="1357092"/>
            <a:ext cx="5200183" cy="5046332"/>
          </a:xfrm>
          <a:prstGeom prst="rect">
            <a:avLst/>
          </a:prstGeom>
        </p:spPr>
      </p:pic>
      <p:sp>
        <p:nvSpPr>
          <p:cNvPr id="2" name="TextBox 1">
            <a:extLst>
              <a:ext uri="{FF2B5EF4-FFF2-40B4-BE49-F238E27FC236}">
                <a16:creationId xmlns:a16="http://schemas.microsoft.com/office/drawing/2014/main" id="{122D27D0-7067-6AA6-397C-1DCBBB1BFBD8}"/>
              </a:ext>
            </a:extLst>
          </p:cNvPr>
          <p:cNvSpPr txBox="1"/>
          <p:nvPr/>
        </p:nvSpPr>
        <p:spPr>
          <a:xfrm>
            <a:off x="10728157" y="290762"/>
            <a:ext cx="138363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Aki </a:t>
            </a:r>
            <a:r>
              <a:rPr lang="en-US" dirty="0" err="1"/>
              <a:t>Sartolahti</a:t>
            </a:r>
          </a:p>
        </p:txBody>
      </p:sp>
    </p:spTree>
    <p:extLst>
      <p:ext uri="{BB962C8B-B14F-4D97-AF65-F5344CB8AC3E}">
        <p14:creationId xmlns:p14="http://schemas.microsoft.com/office/powerpoint/2010/main" val="4135916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DBA9-EF23-CFDB-2B96-54CF1F7A7BA0}"/>
              </a:ext>
            </a:extLst>
          </p:cNvPr>
          <p:cNvSpPr>
            <a:spLocks noGrp="1"/>
          </p:cNvSpPr>
          <p:nvPr>
            <p:ph type="title"/>
          </p:nvPr>
        </p:nvSpPr>
        <p:spPr/>
        <p:txBody>
          <a:bodyPr/>
          <a:lstStyle/>
          <a:p>
            <a:r>
              <a:rPr lang="en-US" dirty="0"/>
              <a:t>Salary Distribution</a:t>
            </a:r>
          </a:p>
        </p:txBody>
      </p:sp>
      <p:sp>
        <p:nvSpPr>
          <p:cNvPr id="3" name="Text Placeholder 2">
            <a:extLst>
              <a:ext uri="{FF2B5EF4-FFF2-40B4-BE49-F238E27FC236}">
                <a16:creationId xmlns:a16="http://schemas.microsoft.com/office/drawing/2014/main" id="{61D7CBEF-8811-F604-0B74-CDE814C66A83}"/>
              </a:ext>
            </a:extLst>
          </p:cNvPr>
          <p:cNvSpPr>
            <a:spLocks noGrp="1"/>
          </p:cNvSpPr>
          <p:nvPr>
            <p:ph idx="1"/>
          </p:nvPr>
        </p:nvSpPr>
        <p:spPr>
          <a:xfrm>
            <a:off x="838200" y="1946429"/>
            <a:ext cx="5395332" cy="4230534"/>
          </a:xfrm>
        </p:spPr>
        <p:txBody>
          <a:bodyPr/>
          <a:lstStyle/>
          <a:p>
            <a:r>
              <a:rPr lang="en-US" sz="1800" dirty="0">
                <a:latin typeface="Arial"/>
                <a:cs typeface="Arial"/>
              </a:rPr>
              <a:t>Survey shows a few things, firstly higher salary usually means higher satisfactory too</a:t>
            </a:r>
          </a:p>
          <a:p>
            <a:endParaRPr lang="en-US" sz="1800" dirty="0">
              <a:latin typeface="Arial"/>
              <a:cs typeface="Arial"/>
            </a:endParaRPr>
          </a:p>
          <a:p>
            <a:r>
              <a:rPr lang="en-US" sz="1800" dirty="0">
                <a:latin typeface="Arial"/>
                <a:cs typeface="Arial"/>
              </a:rPr>
              <a:t>Most employees falls under 4 satisfactory rating, no matter how high or low their salaries are</a:t>
            </a:r>
          </a:p>
          <a:p>
            <a:endParaRPr lang="en-US" sz="1800" dirty="0">
              <a:latin typeface="Arial"/>
              <a:cs typeface="Arial"/>
            </a:endParaRPr>
          </a:p>
          <a:p>
            <a:r>
              <a:rPr lang="en-US" sz="1800" dirty="0">
                <a:latin typeface="Arial"/>
                <a:cs typeface="Arial"/>
              </a:rPr>
              <a:t>Almost nobody falls under 5 satisfactory rating but many do under 1 rating</a:t>
            </a:r>
          </a:p>
          <a:p>
            <a:endParaRPr lang="en-US" sz="1400" dirty="0">
              <a:latin typeface="Arial"/>
              <a:cs typeface="Arial"/>
            </a:endParaRPr>
          </a:p>
          <a:p>
            <a:endParaRPr lang="en-US" sz="1400" dirty="0">
              <a:latin typeface="Arial"/>
              <a:cs typeface="Arial"/>
            </a:endParaRPr>
          </a:p>
        </p:txBody>
      </p:sp>
      <p:pic>
        <p:nvPicPr>
          <p:cNvPr id="7" name="Picture 6" descr="A graph of a salary distribution&#10;&#10;AI-generated content may be incorrect.">
            <a:extLst>
              <a:ext uri="{FF2B5EF4-FFF2-40B4-BE49-F238E27FC236}">
                <a16:creationId xmlns:a16="http://schemas.microsoft.com/office/drawing/2014/main" id="{1FA55E88-7E08-7923-AE21-EAF99ADA6CA7}"/>
              </a:ext>
            </a:extLst>
          </p:cNvPr>
          <p:cNvPicPr>
            <a:picLocks noChangeAspect="1"/>
          </p:cNvPicPr>
          <p:nvPr/>
        </p:nvPicPr>
        <p:blipFill>
          <a:blip r:embed="rId2"/>
          <a:stretch>
            <a:fillRect/>
          </a:stretch>
        </p:blipFill>
        <p:spPr>
          <a:xfrm>
            <a:off x="6240500" y="2146030"/>
            <a:ext cx="5676900" cy="4238625"/>
          </a:xfrm>
          <a:prstGeom prst="rect">
            <a:avLst/>
          </a:prstGeom>
        </p:spPr>
      </p:pic>
      <p:sp>
        <p:nvSpPr>
          <p:cNvPr id="8" name="TextBox 7">
            <a:extLst>
              <a:ext uri="{FF2B5EF4-FFF2-40B4-BE49-F238E27FC236}">
                <a16:creationId xmlns:a16="http://schemas.microsoft.com/office/drawing/2014/main" id="{7BCFF7C3-2005-303A-2A25-52929B2937A0}"/>
              </a:ext>
            </a:extLst>
          </p:cNvPr>
          <p:cNvSpPr txBox="1"/>
          <p:nvPr/>
        </p:nvSpPr>
        <p:spPr>
          <a:xfrm>
            <a:off x="10090738" y="474918"/>
            <a:ext cx="1010177"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Sami Id</a:t>
            </a:r>
          </a:p>
        </p:txBody>
      </p:sp>
    </p:spTree>
    <p:extLst>
      <p:ext uri="{BB962C8B-B14F-4D97-AF65-F5344CB8AC3E}">
        <p14:creationId xmlns:p14="http://schemas.microsoft.com/office/powerpoint/2010/main" val="501586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A6CA651-3ADF-0CD2-0F25-75881BCCECD7}"/>
              </a:ext>
            </a:extLst>
          </p:cNvPr>
          <p:cNvSpPr>
            <a:spLocks noGrp="1"/>
          </p:cNvSpPr>
          <p:nvPr>
            <p:ph type="title"/>
          </p:nvPr>
        </p:nvSpPr>
        <p:spPr>
          <a:xfrm>
            <a:off x="912628" y="1463038"/>
            <a:ext cx="4779372" cy="1462256"/>
          </a:xfrm>
        </p:spPr>
        <p:txBody>
          <a:bodyPr/>
          <a:lstStyle/>
          <a:p>
            <a:r>
              <a:rPr lang="en-US" dirty="0"/>
              <a:t>Education Distribution</a:t>
            </a:r>
          </a:p>
        </p:txBody>
      </p:sp>
      <p:pic>
        <p:nvPicPr>
          <p:cNvPr id="7" name="Content Placeholder 6" descr="A pie chart with numbers and a few percentages with Crust in the background&#10;&#10;AI-generated content may be incorrect.">
            <a:extLst>
              <a:ext uri="{FF2B5EF4-FFF2-40B4-BE49-F238E27FC236}">
                <a16:creationId xmlns:a16="http://schemas.microsoft.com/office/drawing/2014/main" id="{59ACED92-84E5-41F4-0CE1-357D3DEC8A18}"/>
              </a:ext>
            </a:extLst>
          </p:cNvPr>
          <p:cNvPicPr>
            <a:picLocks noGrp="1" noChangeAspect="1"/>
          </p:cNvPicPr>
          <p:nvPr>
            <p:ph type="pic" idx="1"/>
          </p:nvPr>
        </p:nvPicPr>
        <p:blipFill>
          <a:blip r:embed="rId2"/>
          <a:stretch/>
        </p:blipFill>
        <p:spPr>
          <a:xfrm>
            <a:off x="5504247" y="903791"/>
            <a:ext cx="4154764" cy="4873625"/>
          </a:xfrm>
          <a:prstGeom prst="rect">
            <a:avLst/>
          </a:prstGeom>
          <a:noFill/>
        </p:spPr>
      </p:pic>
      <p:sp>
        <p:nvSpPr>
          <p:cNvPr id="14" name="Text Placeholder 3">
            <a:extLst>
              <a:ext uri="{FF2B5EF4-FFF2-40B4-BE49-F238E27FC236}">
                <a16:creationId xmlns:a16="http://schemas.microsoft.com/office/drawing/2014/main" id="{C085D2D3-D698-5586-EE58-3108F437526B}"/>
              </a:ext>
            </a:extLst>
          </p:cNvPr>
          <p:cNvSpPr>
            <a:spLocks noGrp="1"/>
          </p:cNvSpPr>
          <p:nvPr>
            <p:ph type="body" sz="half" idx="2"/>
          </p:nvPr>
        </p:nvSpPr>
        <p:spPr>
          <a:xfrm>
            <a:off x="912628" y="2358440"/>
            <a:ext cx="3859397" cy="3510547"/>
          </a:xfrm>
        </p:spPr>
        <p:txBody>
          <a:bodyPr vert="horz" lIns="91440" tIns="45720" rIns="91440" bIns="45720" rtlCol="0" anchor="t">
            <a:normAutofit/>
          </a:bodyPr>
          <a:lstStyle/>
          <a:p>
            <a:pPr marL="285750" indent="-285750">
              <a:buChar char="•"/>
            </a:pPr>
            <a:r>
              <a:rPr lang="en-US" sz="1800" dirty="0">
                <a:latin typeface="Arial"/>
                <a:cs typeface="Arial"/>
              </a:rPr>
              <a:t>This </a:t>
            </a:r>
            <a:r>
              <a:rPr lang="en-US" sz="1800">
                <a:latin typeface="Arial"/>
                <a:cs typeface="Arial"/>
              </a:rPr>
              <a:t>diagram shows</a:t>
            </a:r>
            <a:r>
              <a:rPr lang="en-US" sz="1800" dirty="0">
                <a:latin typeface="Arial"/>
                <a:cs typeface="Arial"/>
              </a:rPr>
              <a:t> that company has low education level employees the most (1 &amp; 2)</a:t>
            </a:r>
          </a:p>
          <a:p>
            <a:pPr marL="285750" indent="-285750">
              <a:buChar char="•"/>
            </a:pPr>
            <a:r>
              <a:rPr lang="en-US" sz="1800" dirty="0">
                <a:latin typeface="Arial"/>
                <a:cs typeface="Arial"/>
              </a:rPr>
              <a:t>It also shows that there are only a few employees above 3 education level</a:t>
            </a:r>
          </a:p>
        </p:txBody>
      </p:sp>
      <p:sp>
        <p:nvSpPr>
          <p:cNvPr id="4" name="Päivämäärän paikkamerkki 3">
            <a:extLst>
              <a:ext uri="{FF2B5EF4-FFF2-40B4-BE49-F238E27FC236}">
                <a16:creationId xmlns:a16="http://schemas.microsoft.com/office/drawing/2014/main" id="{4A169CD5-ABAB-4A5D-CE00-7478E954D4EC}"/>
              </a:ext>
            </a:extLst>
          </p:cNvPr>
          <p:cNvSpPr>
            <a:spLocks noGrp="1"/>
          </p:cNvSpPr>
          <p:nvPr>
            <p:ph type="dt" sz="half" idx="10"/>
          </p:nvPr>
        </p:nvSpPr>
        <p:spPr>
          <a:xfrm>
            <a:off x="912628" y="6356350"/>
            <a:ext cx="2743200" cy="365125"/>
          </a:xfrm>
        </p:spPr>
        <p:txBody>
          <a:bodyPr anchor="ctr">
            <a:normAutofit/>
          </a:bodyPr>
          <a:lstStyle/>
          <a:p>
            <a:pPr>
              <a:spcAft>
                <a:spcPts val="600"/>
              </a:spcAft>
            </a:pPr>
            <a:fld id="{CE2730FA-8B80-43F1-AB6D-38811E5FBBD4}" type="datetime1">
              <a:pPr>
                <a:spcAft>
                  <a:spcPts val="600"/>
                </a:spcAft>
              </a:pPr>
              <a:t>25.10.2025</a:t>
            </a:fld>
            <a:endParaRPr lang="en-US"/>
          </a:p>
        </p:txBody>
      </p:sp>
      <p:sp>
        <p:nvSpPr>
          <p:cNvPr id="5" name="Alatunnisteen paikkamerkki 4">
            <a:extLst>
              <a:ext uri="{FF2B5EF4-FFF2-40B4-BE49-F238E27FC236}">
                <a16:creationId xmlns:a16="http://schemas.microsoft.com/office/drawing/2014/main" id="{2A9F8B85-2F63-8256-1276-4F3C26A62B37}"/>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6" name="Dian numeron paikkamerkki 5">
            <a:extLst>
              <a:ext uri="{FF2B5EF4-FFF2-40B4-BE49-F238E27FC236}">
                <a16:creationId xmlns:a16="http://schemas.microsoft.com/office/drawing/2014/main" id="{5E6C9DAF-4549-CE2F-A5F1-51DADC449F6F}"/>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16</a:t>
            </a:fld>
            <a:endParaRPr lang="en-US"/>
          </a:p>
        </p:txBody>
      </p:sp>
      <p:pic>
        <p:nvPicPr>
          <p:cNvPr id="8" name="Picture 7" descr="A screenshot of a black and white screen&#10;&#10;AI-generated content may be incorrect.">
            <a:extLst>
              <a:ext uri="{FF2B5EF4-FFF2-40B4-BE49-F238E27FC236}">
                <a16:creationId xmlns:a16="http://schemas.microsoft.com/office/drawing/2014/main" id="{2E6B810A-8AF5-238F-3BE8-69699CE708E6}"/>
              </a:ext>
            </a:extLst>
          </p:cNvPr>
          <p:cNvPicPr>
            <a:picLocks noChangeAspect="1"/>
          </p:cNvPicPr>
          <p:nvPr/>
        </p:nvPicPr>
        <p:blipFill>
          <a:blip r:embed="rId3"/>
          <a:stretch>
            <a:fillRect/>
          </a:stretch>
        </p:blipFill>
        <p:spPr>
          <a:xfrm>
            <a:off x="9940383" y="906850"/>
            <a:ext cx="1752600" cy="1457325"/>
          </a:xfrm>
          <a:prstGeom prst="rect">
            <a:avLst/>
          </a:prstGeom>
        </p:spPr>
      </p:pic>
      <p:sp>
        <p:nvSpPr>
          <p:cNvPr id="9" name="TextBox 8">
            <a:extLst>
              <a:ext uri="{FF2B5EF4-FFF2-40B4-BE49-F238E27FC236}">
                <a16:creationId xmlns:a16="http://schemas.microsoft.com/office/drawing/2014/main" id="{782B48A0-B970-879E-38E5-263213914C11}"/>
              </a:ext>
            </a:extLst>
          </p:cNvPr>
          <p:cNvSpPr txBox="1"/>
          <p:nvPr/>
        </p:nvSpPr>
        <p:spPr>
          <a:xfrm>
            <a:off x="9800435" y="237768"/>
            <a:ext cx="219456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Sami Id</a:t>
            </a:r>
          </a:p>
        </p:txBody>
      </p:sp>
    </p:spTree>
    <p:extLst>
      <p:ext uri="{BB962C8B-B14F-4D97-AF65-F5344CB8AC3E}">
        <p14:creationId xmlns:p14="http://schemas.microsoft.com/office/powerpoint/2010/main" val="4255813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9"/>
        <p:cNvGrpSpPr/>
        <p:nvPr/>
      </p:nvGrpSpPr>
      <p:grpSpPr>
        <a:xfrm>
          <a:off x="0" y="0"/>
          <a:ext cx="0" cy="0"/>
          <a:chOff x="0" y="0"/>
          <a:chExt cx="0" cy="0"/>
        </a:xfrm>
      </p:grpSpPr>
      <p:sp>
        <p:nvSpPr>
          <p:cNvPr id="140" name="Google Shape;140;p4"/>
          <p:cNvSpPr/>
          <p:nvPr/>
        </p:nvSpPr>
        <p:spPr>
          <a:xfrm rot="10800000" flipH="1">
            <a:off x="0" y="0"/>
            <a:ext cx="12192000" cy="400685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1" name="Google Shape;141;p4"/>
          <p:cNvSpPr txBox="1">
            <a:spLocks noGrp="1"/>
          </p:cNvSpPr>
          <p:nvPr>
            <p:ph type="title"/>
          </p:nvPr>
        </p:nvSpPr>
        <p:spPr>
          <a:xfrm>
            <a:off x="838200" y="914402"/>
            <a:ext cx="10515600" cy="265995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8000"/>
              <a:buFont typeface="Calibri"/>
              <a:buNone/>
            </a:pPr>
            <a:r>
              <a:rPr lang="en-US" sz="8000">
                <a:solidFill>
                  <a:srgbClr val="FFFFFF"/>
                </a:solidFill>
                <a:latin typeface="Calibri"/>
                <a:ea typeface="Calibri"/>
                <a:cs typeface="Calibri"/>
                <a:sym typeface="Calibri"/>
              </a:rPr>
              <a:t>Background analysis (variable by variable)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4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5"/>
        <p:cNvGrpSpPr/>
        <p:nvPr/>
      </p:nvGrpSpPr>
      <p:grpSpPr>
        <a:xfrm>
          <a:off x="0" y="0"/>
          <a:ext cx="0" cy="0"/>
          <a:chOff x="0" y="0"/>
          <a:chExt cx="0" cy="0"/>
        </a:xfrm>
      </p:grpSpPr>
      <p:sp>
        <p:nvSpPr>
          <p:cNvPr id="146" name="Google Shape;146;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47" name="Google Shape;147;p5"/>
          <p:cNvGrpSpPr/>
          <p:nvPr/>
        </p:nvGrpSpPr>
        <p:grpSpPr>
          <a:xfrm>
            <a:off x="11219290" y="1"/>
            <a:ext cx="972709" cy="1935307"/>
            <a:chOff x="10918968" y="713127"/>
            <a:chExt cx="1273032" cy="2532832"/>
          </a:xfrm>
        </p:grpSpPr>
        <p:sp>
          <p:nvSpPr>
            <p:cNvPr id="148" name="Google Shape;148;p5"/>
            <p:cNvSpPr/>
            <p:nvPr/>
          </p:nvSpPr>
          <p:spPr>
            <a:xfrm rot="2700000">
              <a:off x="11052629" y="2120024"/>
              <a:ext cx="645368" cy="645368"/>
            </a:xfrm>
            <a:prstGeom prst="rect">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9" name="Google Shape;149;p5"/>
            <p:cNvSpPr/>
            <p:nvPr/>
          </p:nvSpPr>
          <p:spPr>
            <a:xfrm rot="-5400000">
              <a:off x="10289068" y="1343027"/>
              <a:ext cx="2532832" cy="1273032"/>
            </a:xfrm>
            <a:prstGeom prst="triangle">
              <a:avLst>
                <a:gd name="adj" fmla="val 50000"/>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50" name="Google Shape;150;p5"/>
          <p:cNvSpPr txBox="1">
            <a:spLocks noGrp="1"/>
          </p:cNvSpPr>
          <p:nvPr>
            <p:ph type="title"/>
          </p:nvPr>
        </p:nvSpPr>
        <p:spPr>
          <a:xfrm>
            <a:off x="643467" y="321734"/>
            <a:ext cx="10905066"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Background analysis (Education variable)</a:t>
            </a:r>
            <a:endParaRPr sz="3600"/>
          </a:p>
        </p:txBody>
      </p:sp>
      <p:sp>
        <p:nvSpPr>
          <p:cNvPr id="151" name="Google Shape;151;p5"/>
          <p:cNvSpPr txBox="1">
            <a:spLocks noGrp="1"/>
          </p:cNvSpPr>
          <p:nvPr>
            <p:ph idx="1"/>
          </p:nvPr>
        </p:nvSpPr>
        <p:spPr>
          <a:xfrm>
            <a:off x="643468" y="1782981"/>
            <a:ext cx="6842935"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Based on the survey the educational levels of our customers are distributed based on the percentage table shown here.</a:t>
            </a:r>
            <a:endParaRPr/>
          </a:p>
          <a:p>
            <a:pPr marL="228600" lvl="0" indent="-228600" algn="l" rtl="0">
              <a:lnSpc>
                <a:spcPct val="90000"/>
              </a:lnSpc>
              <a:spcBef>
                <a:spcPts val="1000"/>
              </a:spcBef>
              <a:spcAft>
                <a:spcPts val="0"/>
              </a:spcAft>
              <a:buClr>
                <a:schemeClr val="dk1"/>
              </a:buClr>
              <a:buSzPts val="2000"/>
              <a:buChar char="•"/>
            </a:pPr>
            <a:r>
              <a:rPr lang="en-US" sz="2000"/>
              <a:t>More analysis/explanation goes here…</a:t>
            </a:r>
            <a:endParaRPr/>
          </a:p>
        </p:txBody>
      </p:sp>
      <p:grpSp>
        <p:nvGrpSpPr>
          <p:cNvPr id="152" name="Google Shape;152;p5"/>
          <p:cNvGrpSpPr/>
          <p:nvPr/>
        </p:nvGrpSpPr>
        <p:grpSpPr>
          <a:xfrm>
            <a:off x="0" y="4601497"/>
            <a:ext cx="1014060" cy="2017580"/>
            <a:chOff x="0" y="4601497"/>
            <a:chExt cx="1014060" cy="2017580"/>
          </a:xfrm>
        </p:grpSpPr>
        <p:sp>
          <p:nvSpPr>
            <p:cNvPr id="153" name="Google Shape;153;p5"/>
            <p:cNvSpPr/>
            <p:nvPr/>
          </p:nvSpPr>
          <p:spPr>
            <a:xfrm rot="5400000">
              <a:off x="-501760" y="5103257"/>
              <a:ext cx="2017580" cy="1014060"/>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4" name="Google Shape;154;p5"/>
            <p:cNvSpPr/>
            <p:nvPr/>
          </p:nvSpPr>
          <p:spPr>
            <a:xfrm rot="2700000">
              <a:off x="427916" y="5728708"/>
              <a:ext cx="485578" cy="485578"/>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55" name="Google Shape;155;p5"/>
          <p:cNvPicPr preferRelativeResize="0"/>
          <p:nvPr/>
        </p:nvPicPr>
        <p:blipFill rotWithShape="1">
          <a:blip r:embed="rId3">
            <a:alphaModFix/>
          </a:blip>
          <a:srcRect/>
          <a:stretch/>
        </p:blipFill>
        <p:spPr>
          <a:xfrm>
            <a:off x="8132318" y="1782981"/>
            <a:ext cx="3416214" cy="1782836"/>
          </a:xfrm>
          <a:prstGeom prst="rect">
            <a:avLst/>
          </a:prstGeom>
          <a:noFill/>
          <a:ln>
            <a:noFill/>
          </a:ln>
        </p:spPr>
      </p:pic>
      <p:sp>
        <p:nvSpPr>
          <p:cNvPr id="156" name="Google Shape;156;p5"/>
          <p:cNvSpPr txBox="1"/>
          <p:nvPr/>
        </p:nvSpPr>
        <p:spPr>
          <a:xfrm rot="-1921325">
            <a:off x="2533928" y="3172046"/>
            <a:ext cx="7809722"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0000"/>
                </a:solidFill>
                <a:latin typeface="Calibri"/>
                <a:ea typeface="Calibri"/>
                <a:cs typeface="Calibri"/>
                <a:sym typeface="Calibri"/>
              </a:rPr>
              <a:t>Or maybe better to use percentages in this case….</a:t>
            </a:r>
            <a:endParaRPr sz="1800" b="0" i="0" u="none" strike="noStrike" cap="none">
              <a:solidFill>
                <a:srgbClr val="FF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0"/>
        <p:cNvGrpSpPr/>
        <p:nvPr/>
      </p:nvGrpSpPr>
      <p:grpSpPr>
        <a:xfrm>
          <a:off x="0" y="0"/>
          <a:ext cx="0" cy="0"/>
          <a:chOff x="0" y="0"/>
          <a:chExt cx="0" cy="0"/>
        </a:xfrm>
      </p:grpSpPr>
      <p:sp>
        <p:nvSpPr>
          <p:cNvPr id="161" name="Google Shape;16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2" name="Google Shape;162;p7"/>
          <p:cNvSpPr txBox="1">
            <a:spLocks noGrp="1"/>
          </p:cNvSpPr>
          <p:nvPr>
            <p:ph type="title"/>
          </p:nvPr>
        </p:nvSpPr>
        <p:spPr>
          <a:xfrm>
            <a:off x="643467" y="321734"/>
            <a:ext cx="4970877"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Background analysis (Net house income variable)</a:t>
            </a:r>
            <a:endParaRPr sz="3600"/>
          </a:p>
        </p:txBody>
      </p:sp>
      <p:sp>
        <p:nvSpPr>
          <p:cNvPr id="163" name="Google Shape;163;p7"/>
          <p:cNvSpPr txBox="1">
            <a:spLocks noGrp="1"/>
          </p:cNvSpPr>
          <p:nvPr>
            <p:ph idx="1"/>
          </p:nvPr>
        </p:nvSpPr>
        <p:spPr>
          <a:xfrm>
            <a:off x="643468" y="1782981"/>
            <a:ext cx="4970877" cy="4393982"/>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sz="2000"/>
              <a:t>Since boxplot does not describe the customer net house income fully the histogram of that variable is provided here. The income classes used where </a:t>
            </a:r>
            <a:endParaRPr/>
          </a:p>
          <a:p>
            <a:pPr marL="228600" lvl="0" indent="-228600" algn="l" rtl="0">
              <a:lnSpc>
                <a:spcPct val="90000"/>
              </a:lnSpc>
              <a:spcBef>
                <a:spcPts val="1000"/>
              </a:spcBef>
              <a:spcAft>
                <a:spcPts val="0"/>
              </a:spcAft>
              <a:buClr>
                <a:schemeClr val="dk1"/>
              </a:buClr>
              <a:buSzPct val="100000"/>
              <a:buChar char="•"/>
            </a:pPr>
            <a:r>
              <a:rPr lang="en-US" sz="2000"/>
              <a:t> 500 - 1000</a:t>
            </a:r>
            <a:endParaRPr/>
          </a:p>
          <a:p>
            <a:pPr marL="228600" lvl="0" indent="-228600" algn="l" rtl="0">
              <a:lnSpc>
                <a:spcPct val="90000"/>
              </a:lnSpc>
              <a:spcBef>
                <a:spcPts val="1000"/>
              </a:spcBef>
              <a:spcAft>
                <a:spcPts val="0"/>
              </a:spcAft>
              <a:buClr>
                <a:schemeClr val="dk1"/>
              </a:buClr>
              <a:buSzPct val="100000"/>
              <a:buChar char="•"/>
            </a:pPr>
            <a:r>
              <a:rPr lang="en-US" sz="2000"/>
              <a:t>1000 – 2000</a:t>
            </a:r>
            <a:endParaRPr/>
          </a:p>
          <a:p>
            <a:pPr marL="228600" lvl="0" indent="-228600" algn="l" rtl="0">
              <a:lnSpc>
                <a:spcPct val="90000"/>
              </a:lnSpc>
              <a:spcBef>
                <a:spcPts val="1000"/>
              </a:spcBef>
              <a:spcAft>
                <a:spcPts val="0"/>
              </a:spcAft>
              <a:buClr>
                <a:schemeClr val="dk1"/>
              </a:buClr>
              <a:buSzPct val="100000"/>
              <a:buChar char="•"/>
            </a:pPr>
            <a:r>
              <a:rPr lang="en-US" sz="2000"/>
              <a:t>2000 – 3000</a:t>
            </a:r>
            <a:endParaRPr/>
          </a:p>
          <a:p>
            <a:pPr marL="228600" lvl="0" indent="-228600" algn="l" rtl="0">
              <a:lnSpc>
                <a:spcPct val="90000"/>
              </a:lnSpc>
              <a:spcBef>
                <a:spcPts val="1000"/>
              </a:spcBef>
              <a:spcAft>
                <a:spcPts val="0"/>
              </a:spcAft>
              <a:buClr>
                <a:schemeClr val="dk1"/>
              </a:buClr>
              <a:buSzPct val="100000"/>
              <a:buChar char="•"/>
            </a:pPr>
            <a:r>
              <a:rPr lang="en-US" sz="2000"/>
              <a:t>3000 – 4000</a:t>
            </a:r>
            <a:endParaRPr/>
          </a:p>
          <a:p>
            <a:pPr marL="228600" lvl="0" indent="-228600" algn="l" rtl="0">
              <a:lnSpc>
                <a:spcPct val="90000"/>
              </a:lnSpc>
              <a:spcBef>
                <a:spcPts val="1000"/>
              </a:spcBef>
              <a:spcAft>
                <a:spcPts val="0"/>
              </a:spcAft>
              <a:buClr>
                <a:schemeClr val="dk1"/>
              </a:buClr>
              <a:buSzPct val="100000"/>
              <a:buChar char="•"/>
            </a:pPr>
            <a:r>
              <a:rPr lang="en-US" sz="2000"/>
              <a:t>4000 – 7000</a:t>
            </a:r>
            <a:endParaRPr/>
          </a:p>
          <a:p>
            <a:pPr marL="228600" lvl="0" indent="-228600" algn="l" rtl="0">
              <a:lnSpc>
                <a:spcPct val="90000"/>
              </a:lnSpc>
              <a:spcBef>
                <a:spcPts val="1000"/>
              </a:spcBef>
              <a:spcAft>
                <a:spcPts val="0"/>
              </a:spcAft>
              <a:buClr>
                <a:schemeClr val="dk1"/>
              </a:buClr>
              <a:buSzPct val="100000"/>
              <a:buChar char="•"/>
            </a:pPr>
            <a:r>
              <a:rPr lang="en-US" sz="2000"/>
              <a:t>We can see that about 70% of our curtomers net house income is between 1000 and 300 euros and also 3000 – 4000 e net income is rather common.</a:t>
            </a:r>
            <a:endParaRPr/>
          </a:p>
          <a:p>
            <a:pPr marL="228600" lvl="0" indent="-228600" algn="l" rtl="0">
              <a:lnSpc>
                <a:spcPct val="90000"/>
              </a:lnSpc>
              <a:spcBef>
                <a:spcPts val="1000"/>
              </a:spcBef>
              <a:spcAft>
                <a:spcPts val="0"/>
              </a:spcAft>
              <a:buClr>
                <a:schemeClr val="dk1"/>
              </a:buClr>
              <a:buSzPct val="100000"/>
              <a:buChar char="•"/>
            </a:pPr>
            <a:r>
              <a:rPr lang="en-US" sz="2000"/>
              <a:t>Maybe some suggestions based on your findings… (no need now for this course!)</a:t>
            </a:r>
            <a:endParaRPr sz="2000"/>
          </a:p>
        </p:txBody>
      </p:sp>
      <p:sp>
        <p:nvSpPr>
          <p:cNvPr id="164" name="Google Shape;164;p7"/>
          <p:cNvSpPr/>
          <p:nvPr/>
        </p:nvSpPr>
        <p:spPr>
          <a:xfrm rot="5400000">
            <a:off x="-501760" y="5103257"/>
            <a:ext cx="2017580" cy="1014060"/>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5" name="Google Shape;165;p7"/>
          <p:cNvSpPr/>
          <p:nvPr/>
        </p:nvSpPr>
        <p:spPr>
          <a:xfrm rot="2700000">
            <a:off x="427916" y="5728708"/>
            <a:ext cx="485578" cy="485578"/>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66" name="Google Shape;166;p7"/>
          <p:cNvPicPr preferRelativeResize="0"/>
          <p:nvPr/>
        </p:nvPicPr>
        <p:blipFill rotWithShape="1">
          <a:blip r:embed="rId3">
            <a:alphaModFix/>
          </a:blip>
          <a:srcRect/>
          <a:stretch/>
        </p:blipFill>
        <p:spPr>
          <a:xfrm>
            <a:off x="6257813" y="1676532"/>
            <a:ext cx="5290720" cy="3504935"/>
          </a:xfrm>
          <a:prstGeom prst="rect">
            <a:avLst/>
          </a:prstGeom>
          <a:noFill/>
          <a:ln>
            <a:noFill/>
          </a:ln>
        </p:spPr>
      </p:pic>
      <p:grpSp>
        <p:nvGrpSpPr>
          <p:cNvPr id="167" name="Google Shape;167;p7"/>
          <p:cNvGrpSpPr/>
          <p:nvPr/>
        </p:nvGrpSpPr>
        <p:grpSpPr>
          <a:xfrm>
            <a:off x="11094719" y="0"/>
            <a:ext cx="1097281" cy="1097280"/>
            <a:chOff x="11094719" y="0"/>
            <a:chExt cx="1097281" cy="1097280"/>
          </a:xfrm>
        </p:grpSpPr>
        <p:sp>
          <p:nvSpPr>
            <p:cNvPr id="168" name="Google Shape;168;p7"/>
            <p:cNvSpPr/>
            <p:nvPr/>
          </p:nvSpPr>
          <p:spPr>
            <a:xfrm rot="-5400000">
              <a:off x="11094720" y="0"/>
              <a:ext cx="1097280" cy="1097280"/>
            </a:xfrm>
            <a:prstGeom prst="triangle">
              <a:avLst>
                <a:gd name="adj" fmla="val 100000"/>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69" name="Google Shape;169;p7"/>
            <p:cNvSpPr/>
            <p:nvPr/>
          </p:nvSpPr>
          <p:spPr>
            <a:xfrm rot="2700000">
              <a:off x="11189552" y="127618"/>
              <a:ext cx="457894" cy="457894"/>
            </a:xfrm>
            <a:prstGeom prst="rect">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3"/>
        <p:cNvGrpSpPr/>
        <p:nvPr/>
      </p:nvGrpSpPr>
      <p:grpSpPr>
        <a:xfrm>
          <a:off x="0" y="0"/>
          <a:ext cx="0" cy="0"/>
          <a:chOff x="0" y="0"/>
          <a:chExt cx="0" cy="0"/>
        </a:xfrm>
      </p:grpSpPr>
      <p:sp>
        <p:nvSpPr>
          <p:cNvPr id="174" name="Google Shape;174;p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175" name="Google Shape;175;p8"/>
          <p:cNvGrpSpPr/>
          <p:nvPr/>
        </p:nvGrpSpPr>
        <p:grpSpPr>
          <a:xfrm>
            <a:off x="11219290" y="1"/>
            <a:ext cx="972709" cy="1935307"/>
            <a:chOff x="10918968" y="713127"/>
            <a:chExt cx="1273032" cy="2532832"/>
          </a:xfrm>
        </p:grpSpPr>
        <p:sp>
          <p:nvSpPr>
            <p:cNvPr id="176" name="Google Shape;176;p8"/>
            <p:cNvSpPr/>
            <p:nvPr/>
          </p:nvSpPr>
          <p:spPr>
            <a:xfrm rot="2700000">
              <a:off x="11052629" y="2120024"/>
              <a:ext cx="645368" cy="645368"/>
            </a:xfrm>
            <a:prstGeom prst="rect">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77" name="Google Shape;177;p8"/>
            <p:cNvSpPr/>
            <p:nvPr/>
          </p:nvSpPr>
          <p:spPr>
            <a:xfrm rot="-5400000">
              <a:off x="10289068" y="1343027"/>
              <a:ext cx="2532832" cy="1273032"/>
            </a:xfrm>
            <a:prstGeom prst="triangle">
              <a:avLst>
                <a:gd name="adj" fmla="val 50000"/>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178" name="Google Shape;178;p8"/>
          <p:cNvSpPr txBox="1">
            <a:spLocks noGrp="1"/>
          </p:cNvSpPr>
          <p:nvPr>
            <p:ph type="title"/>
          </p:nvPr>
        </p:nvSpPr>
        <p:spPr>
          <a:xfrm>
            <a:off x="643467" y="321734"/>
            <a:ext cx="10905066"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Background analysis (Education variable)</a:t>
            </a:r>
            <a:endParaRPr sz="3600"/>
          </a:p>
        </p:txBody>
      </p:sp>
      <p:sp>
        <p:nvSpPr>
          <p:cNvPr id="179" name="Google Shape;179;p8"/>
          <p:cNvSpPr txBox="1">
            <a:spLocks noGrp="1"/>
          </p:cNvSpPr>
          <p:nvPr>
            <p:ph idx="1"/>
          </p:nvPr>
        </p:nvSpPr>
        <p:spPr>
          <a:xfrm>
            <a:off x="643468" y="1782981"/>
            <a:ext cx="6842935"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Based on the survey the educational levels of our customers are distributed based on the frequency table shown here.</a:t>
            </a:r>
            <a:endParaRPr/>
          </a:p>
          <a:p>
            <a:pPr marL="228600" lvl="0" indent="-228600" algn="l" rtl="0">
              <a:lnSpc>
                <a:spcPct val="90000"/>
              </a:lnSpc>
              <a:spcBef>
                <a:spcPts val="1000"/>
              </a:spcBef>
              <a:spcAft>
                <a:spcPts val="0"/>
              </a:spcAft>
              <a:buClr>
                <a:schemeClr val="dk1"/>
              </a:buClr>
              <a:buSzPts val="2000"/>
              <a:buChar char="•"/>
            </a:pPr>
            <a:r>
              <a:rPr lang="en-US" sz="2000"/>
              <a:t>More analysis/explanation goes here…</a:t>
            </a:r>
            <a:endParaRPr/>
          </a:p>
        </p:txBody>
      </p:sp>
      <p:grpSp>
        <p:nvGrpSpPr>
          <p:cNvPr id="180" name="Google Shape;180;p8"/>
          <p:cNvGrpSpPr/>
          <p:nvPr/>
        </p:nvGrpSpPr>
        <p:grpSpPr>
          <a:xfrm>
            <a:off x="0" y="4601497"/>
            <a:ext cx="1014060" cy="2017580"/>
            <a:chOff x="0" y="4601497"/>
            <a:chExt cx="1014060" cy="2017580"/>
          </a:xfrm>
        </p:grpSpPr>
        <p:sp>
          <p:nvSpPr>
            <p:cNvPr id="181" name="Google Shape;181;p8"/>
            <p:cNvSpPr/>
            <p:nvPr/>
          </p:nvSpPr>
          <p:spPr>
            <a:xfrm rot="5400000">
              <a:off x="-501760" y="5103257"/>
              <a:ext cx="2017580" cy="1014060"/>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2" name="Google Shape;182;p8"/>
            <p:cNvSpPr/>
            <p:nvPr/>
          </p:nvSpPr>
          <p:spPr>
            <a:xfrm rot="2700000">
              <a:off x="427916" y="5728708"/>
              <a:ext cx="485578" cy="485578"/>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183" name="Google Shape;183;p8"/>
          <p:cNvPicPr preferRelativeResize="0"/>
          <p:nvPr/>
        </p:nvPicPr>
        <p:blipFill rotWithShape="1">
          <a:blip r:embed="rId3">
            <a:alphaModFix/>
          </a:blip>
          <a:srcRect/>
          <a:stretch/>
        </p:blipFill>
        <p:spPr>
          <a:xfrm>
            <a:off x="8132318" y="1782981"/>
            <a:ext cx="3416214" cy="25101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7"/>
        <p:cNvGrpSpPr/>
        <p:nvPr/>
      </p:nvGrpSpPr>
      <p:grpSpPr>
        <a:xfrm>
          <a:off x="0" y="0"/>
          <a:ext cx="0" cy="0"/>
          <a:chOff x="0" y="0"/>
          <a:chExt cx="0" cy="0"/>
        </a:xfrm>
      </p:grpSpPr>
      <p:sp>
        <p:nvSpPr>
          <p:cNvPr id="188" name="Google Shape;188;p9"/>
          <p:cNvSpPr/>
          <p:nvPr/>
        </p:nvSpPr>
        <p:spPr>
          <a:xfrm>
            <a:off x="1588" y="0"/>
            <a:ext cx="12188825" cy="424281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189" name="Google Shape;189;p9"/>
          <p:cNvSpPr txBox="1">
            <a:spLocks noGrp="1"/>
          </p:cNvSpPr>
          <p:nvPr>
            <p:ph type="title"/>
          </p:nvPr>
        </p:nvSpPr>
        <p:spPr>
          <a:xfrm>
            <a:off x="1293026" y="713195"/>
            <a:ext cx="9605948" cy="231866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FFFFFF"/>
              </a:buClr>
              <a:buSzPts val="5400"/>
              <a:buFont typeface="Calibri"/>
              <a:buNone/>
            </a:pPr>
            <a:r>
              <a:rPr lang="en-US" sz="5400">
                <a:solidFill>
                  <a:srgbClr val="FFFFFF"/>
                </a:solidFill>
                <a:latin typeface="Calibri"/>
                <a:ea typeface="Calibri"/>
                <a:cs typeface="Calibri"/>
                <a:sym typeface="Calibri"/>
              </a:rPr>
              <a:t>Background analysis (more ….)</a:t>
            </a:r>
            <a:endParaRPr/>
          </a:p>
        </p:txBody>
      </p:sp>
      <p:sp>
        <p:nvSpPr>
          <p:cNvPr id="190" name="Google Shape;190;p9"/>
          <p:cNvSpPr txBox="1">
            <a:spLocks noGrp="1"/>
          </p:cNvSpPr>
          <p:nvPr>
            <p:ph idx="1"/>
          </p:nvPr>
        </p:nvSpPr>
        <p:spPr>
          <a:xfrm>
            <a:off x="1627240" y="3031860"/>
            <a:ext cx="8937522" cy="1059373"/>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FFFFFF"/>
              </a:buClr>
              <a:buSzPts val="2400"/>
              <a:buNone/>
            </a:pPr>
            <a:r>
              <a:rPr lang="en-US" sz="2400">
                <a:solidFill>
                  <a:srgbClr val="FFFFFF"/>
                </a:solidFill>
                <a:latin typeface="Calibri"/>
                <a:ea typeface="Calibri"/>
                <a:cs typeface="Calibri"/>
                <a:sym typeface="Calibri"/>
              </a:rPr>
              <a:t>Report other relevant findings here…</a:t>
            </a:r>
            <a:endParaRPr/>
          </a:p>
        </p:txBody>
      </p:sp>
      <p:pic>
        <p:nvPicPr>
          <p:cNvPr id="191" name="Google Shape;191;p9" descr="Mikroskooppi"/>
          <p:cNvPicPr preferRelativeResize="0"/>
          <p:nvPr/>
        </p:nvPicPr>
        <p:blipFill rotWithShape="1">
          <a:blip r:embed="rId3">
            <a:alphaModFix/>
          </a:blip>
          <a:srcRect/>
          <a:stretch/>
        </p:blipFill>
        <p:spPr>
          <a:xfrm>
            <a:off x="5506089" y="4805363"/>
            <a:ext cx="1179824" cy="11798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5"/>
        <p:cNvGrpSpPr/>
        <p:nvPr/>
      </p:nvGrpSpPr>
      <p:grpSpPr>
        <a:xfrm>
          <a:off x="0" y="0"/>
          <a:ext cx="0" cy="0"/>
          <a:chOff x="0" y="0"/>
          <a:chExt cx="0" cy="0"/>
        </a:xfrm>
      </p:grpSpPr>
      <p:sp>
        <p:nvSpPr>
          <p:cNvPr id="196" name="Google Shape;196;p10"/>
          <p:cNvSpPr/>
          <p:nvPr/>
        </p:nvSpPr>
        <p:spPr>
          <a:xfrm>
            <a:off x="-1" y="0"/>
            <a:ext cx="5093209" cy="6858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7" name="Google Shape;197;p10"/>
          <p:cNvSpPr txBox="1">
            <a:spLocks noGrp="1"/>
          </p:cNvSpPr>
          <p:nvPr>
            <p:ph type="title"/>
          </p:nvPr>
        </p:nvSpPr>
        <p:spPr>
          <a:xfrm>
            <a:off x="524741" y="620392"/>
            <a:ext cx="3808268" cy="55046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6000"/>
              <a:buFont typeface="Calibri"/>
              <a:buNone/>
            </a:pPr>
            <a:r>
              <a:rPr lang="en-US" sz="6000">
                <a:solidFill>
                  <a:schemeClr val="lt1"/>
                </a:solidFill>
                <a:latin typeface="Calibri"/>
                <a:ea typeface="Calibri"/>
                <a:cs typeface="Calibri"/>
                <a:sym typeface="Calibri"/>
              </a:rPr>
              <a:t>Analyzes two qualitative variables </a:t>
            </a:r>
            <a:endParaRPr/>
          </a:p>
        </p:txBody>
      </p:sp>
      <p:grpSp>
        <p:nvGrpSpPr>
          <p:cNvPr id="198" name="Google Shape;198;p10"/>
          <p:cNvGrpSpPr/>
          <p:nvPr/>
        </p:nvGrpSpPr>
        <p:grpSpPr>
          <a:xfrm>
            <a:off x="5468389" y="620392"/>
            <a:ext cx="6263640" cy="5504686"/>
            <a:chOff x="0" y="0"/>
            <a:chExt cx="6263640" cy="5504686"/>
          </a:xfrm>
        </p:grpSpPr>
        <p:cxnSp>
          <p:nvCxnSpPr>
            <p:cNvPr id="199" name="Google Shape;199;p10"/>
            <p:cNvCxnSpPr/>
            <p:nvPr/>
          </p:nvCxnSpPr>
          <p:spPr>
            <a:xfrm>
              <a:off x="0" y="0"/>
              <a:ext cx="6263640" cy="0"/>
            </a:xfrm>
            <a:prstGeom prst="straightConnector1">
              <a:avLst/>
            </a:prstGeom>
            <a:solidFill>
              <a:schemeClr val="accent2"/>
            </a:solidFill>
            <a:ln w="12700" cap="flat" cmpd="sng">
              <a:solidFill>
                <a:schemeClr val="accent2"/>
              </a:solidFill>
              <a:prstDash val="solid"/>
              <a:miter lim="800000"/>
              <a:headEnd type="none" w="sm" len="sm"/>
              <a:tailEnd type="none" w="sm" len="sm"/>
            </a:ln>
          </p:spPr>
        </p:cxnSp>
        <p:sp>
          <p:nvSpPr>
            <p:cNvPr id="200" name="Google Shape;200;p10"/>
            <p:cNvSpPr/>
            <p:nvPr/>
          </p:nvSpPr>
          <p:spPr>
            <a:xfrm>
              <a:off x="0" y="0"/>
              <a:ext cx="6263640" cy="13761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10"/>
            <p:cNvSpPr txBox="1"/>
            <p:nvPr/>
          </p:nvSpPr>
          <p:spPr>
            <a:xfrm>
              <a:off x="0" y="0"/>
              <a:ext cx="6263640" cy="1376171"/>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Maybe there are some variable pair of variables 1-7 that provide meaningful background information for the business already</a:t>
              </a:r>
              <a:endParaRPr sz="1400" b="0" i="0" u="none" strike="noStrike" cap="none">
                <a:solidFill>
                  <a:srgbClr val="000000"/>
                </a:solidFill>
                <a:latin typeface="Arial"/>
                <a:ea typeface="Arial"/>
                <a:cs typeface="Arial"/>
                <a:sym typeface="Arial"/>
              </a:endParaRPr>
            </a:p>
          </p:txBody>
        </p:sp>
        <p:cxnSp>
          <p:nvCxnSpPr>
            <p:cNvPr id="202" name="Google Shape;202;p10"/>
            <p:cNvCxnSpPr/>
            <p:nvPr/>
          </p:nvCxnSpPr>
          <p:spPr>
            <a:xfrm>
              <a:off x="0" y="1376171"/>
              <a:ext cx="6263640" cy="0"/>
            </a:xfrm>
            <a:prstGeom prst="straightConnector1">
              <a:avLst/>
            </a:prstGeom>
            <a:solidFill>
              <a:schemeClr val="accent3"/>
            </a:solidFill>
            <a:ln w="12700" cap="flat" cmpd="sng">
              <a:solidFill>
                <a:schemeClr val="accent3"/>
              </a:solidFill>
              <a:prstDash val="solid"/>
              <a:miter lim="800000"/>
              <a:headEnd type="none" w="sm" len="sm"/>
              <a:tailEnd type="none" w="sm" len="sm"/>
            </a:ln>
          </p:spPr>
        </p:cxnSp>
        <p:sp>
          <p:nvSpPr>
            <p:cNvPr id="203" name="Google Shape;203;p10"/>
            <p:cNvSpPr/>
            <p:nvPr/>
          </p:nvSpPr>
          <p:spPr>
            <a:xfrm>
              <a:off x="0" y="1376171"/>
              <a:ext cx="6263640" cy="13761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10"/>
            <p:cNvSpPr txBox="1"/>
            <p:nvPr/>
          </p:nvSpPr>
          <p:spPr>
            <a:xfrm>
              <a:off x="0" y="1376171"/>
              <a:ext cx="6263640" cy="1376171"/>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chemeClr val="dk1"/>
                </a:buClr>
                <a:buSzPts val="2100"/>
                <a:buFont typeface="Calibri"/>
                <a:buNone/>
              </a:pPr>
              <a:r>
                <a:rPr lang="en-US" sz="2100" b="0" i="0" u="none" strike="noStrike" cap="none">
                  <a:solidFill>
                    <a:schemeClr val="dk1"/>
                  </a:solidFill>
                  <a:latin typeface="Calibri"/>
                  <a:ea typeface="Calibri"/>
                  <a:cs typeface="Calibri"/>
                  <a:sym typeface="Calibri"/>
                </a:rPr>
                <a:t>However, remember that your boss is most interested in findings with variables 1-7 together with variables 8 and 9!</a:t>
              </a:r>
              <a:endParaRPr sz="1400" b="0" i="0" u="none" strike="noStrike" cap="none">
                <a:solidFill>
                  <a:srgbClr val="000000"/>
                </a:solidFill>
                <a:latin typeface="Arial"/>
                <a:ea typeface="Arial"/>
                <a:cs typeface="Arial"/>
                <a:sym typeface="Arial"/>
              </a:endParaRPr>
            </a:p>
          </p:txBody>
        </p:sp>
        <p:cxnSp>
          <p:nvCxnSpPr>
            <p:cNvPr id="205" name="Google Shape;205;p10"/>
            <p:cNvCxnSpPr/>
            <p:nvPr/>
          </p:nvCxnSpPr>
          <p:spPr>
            <a:xfrm>
              <a:off x="0" y="2752343"/>
              <a:ext cx="6263640" cy="0"/>
            </a:xfrm>
            <a:prstGeom prst="straightConnector1">
              <a:avLst/>
            </a:prstGeom>
            <a:solidFill>
              <a:schemeClr val="accent4"/>
            </a:solidFill>
            <a:ln w="12700" cap="flat" cmpd="sng">
              <a:solidFill>
                <a:schemeClr val="accent4"/>
              </a:solidFill>
              <a:prstDash val="solid"/>
              <a:miter lim="800000"/>
              <a:headEnd type="none" w="sm" len="sm"/>
              <a:tailEnd type="none" w="sm" len="sm"/>
            </a:ln>
          </p:spPr>
        </p:cxnSp>
        <p:sp>
          <p:nvSpPr>
            <p:cNvPr id="206" name="Google Shape;206;p10"/>
            <p:cNvSpPr/>
            <p:nvPr/>
          </p:nvSpPr>
          <p:spPr>
            <a:xfrm>
              <a:off x="0" y="2752343"/>
              <a:ext cx="6263640" cy="13761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10"/>
            <p:cNvSpPr txBox="1"/>
            <p:nvPr/>
          </p:nvSpPr>
          <p:spPr>
            <a:xfrm>
              <a:off x="0" y="2752343"/>
              <a:ext cx="6263640" cy="1376171"/>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rgbClr val="FF0000"/>
                </a:buClr>
                <a:buSzPts val="2100"/>
                <a:buFont typeface="Calibri"/>
                <a:buNone/>
              </a:pPr>
              <a:r>
                <a:rPr lang="en-US" sz="2100" b="0" i="0" u="none" strike="noStrike" cap="none">
                  <a:solidFill>
                    <a:srgbClr val="FF0000"/>
                  </a:solidFill>
                  <a:latin typeface="Calibri"/>
                  <a:ea typeface="Calibri"/>
                  <a:cs typeface="Calibri"/>
                  <a:sym typeface="Calibri"/>
                </a:rPr>
                <a:t>Here I will report analysis between variables gender and education… Which does not have much if any meaning for the business here … but just for the illustration.</a:t>
              </a:r>
              <a:endParaRPr sz="1400" b="0" i="0" u="none" strike="noStrike" cap="none">
                <a:solidFill>
                  <a:srgbClr val="000000"/>
                </a:solidFill>
                <a:latin typeface="Arial"/>
                <a:ea typeface="Arial"/>
                <a:cs typeface="Arial"/>
                <a:sym typeface="Arial"/>
              </a:endParaRPr>
            </a:p>
          </p:txBody>
        </p:sp>
        <p:cxnSp>
          <p:nvCxnSpPr>
            <p:cNvPr id="208" name="Google Shape;208;p10"/>
            <p:cNvCxnSpPr/>
            <p:nvPr/>
          </p:nvCxnSpPr>
          <p:spPr>
            <a:xfrm>
              <a:off x="0" y="4128515"/>
              <a:ext cx="6263640" cy="0"/>
            </a:xfrm>
            <a:prstGeom prst="straightConnector1">
              <a:avLst/>
            </a:prstGeom>
            <a:solidFill>
              <a:srgbClr val="599BD5"/>
            </a:solidFill>
            <a:ln w="12700" cap="flat" cmpd="sng">
              <a:solidFill>
                <a:srgbClr val="599BD5"/>
              </a:solidFill>
              <a:prstDash val="solid"/>
              <a:miter lim="800000"/>
              <a:headEnd type="none" w="sm" len="sm"/>
              <a:tailEnd type="none" w="sm" len="sm"/>
            </a:ln>
          </p:spPr>
        </p:cxnSp>
        <p:sp>
          <p:nvSpPr>
            <p:cNvPr id="209" name="Google Shape;209;p10"/>
            <p:cNvSpPr/>
            <p:nvPr/>
          </p:nvSpPr>
          <p:spPr>
            <a:xfrm>
              <a:off x="0" y="4128515"/>
              <a:ext cx="6263640" cy="1376171"/>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10"/>
            <p:cNvSpPr txBox="1"/>
            <p:nvPr/>
          </p:nvSpPr>
          <p:spPr>
            <a:xfrm>
              <a:off x="0" y="4128515"/>
              <a:ext cx="6263640" cy="1376171"/>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rgbClr val="FF0000"/>
                </a:buClr>
                <a:buSzPts val="2100"/>
                <a:buFont typeface="Calibri"/>
                <a:buNone/>
              </a:pPr>
              <a:r>
                <a:rPr lang="en-US" sz="2100" b="0" i="0" u="none" strike="noStrike" cap="none">
                  <a:solidFill>
                    <a:srgbClr val="FF0000"/>
                  </a:solidFill>
                  <a:latin typeface="Calibri"/>
                  <a:ea typeface="Calibri"/>
                  <a:cs typeface="Calibri"/>
                  <a:sym typeface="Calibri"/>
                </a:rPr>
                <a:t>… So it is your job to analyze something interesting for your boss!!</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DAC3C-5570-3142-E148-236D7B63EFA1}"/>
              </a:ext>
            </a:extLst>
          </p:cNvPr>
          <p:cNvSpPr>
            <a:spLocks noGrp="1"/>
          </p:cNvSpPr>
          <p:nvPr>
            <p:ph type="title"/>
          </p:nvPr>
        </p:nvSpPr>
        <p:spPr>
          <a:xfrm>
            <a:off x="583894" y="3673"/>
            <a:ext cx="10363200" cy="1187570"/>
          </a:xfrm>
        </p:spPr>
        <p:txBody>
          <a:bodyPr/>
          <a:lstStyle/>
          <a:p>
            <a:r>
              <a:rPr lang="en-US" dirty="0"/>
              <a:t>Worker Satisfaction</a:t>
            </a:r>
          </a:p>
        </p:txBody>
      </p:sp>
      <p:pic>
        <p:nvPicPr>
          <p:cNvPr id="7" name="Content Placeholder 6" descr="A group of pie charts with different colored circles&#10;&#10;AI-generated content may be incorrect.">
            <a:extLst>
              <a:ext uri="{FF2B5EF4-FFF2-40B4-BE49-F238E27FC236}">
                <a16:creationId xmlns:a16="http://schemas.microsoft.com/office/drawing/2014/main" id="{D4A62821-3151-B984-7157-1721321718A2}"/>
              </a:ext>
            </a:extLst>
          </p:cNvPr>
          <p:cNvPicPr>
            <a:picLocks noGrp="1" noChangeAspect="1"/>
          </p:cNvPicPr>
          <p:nvPr>
            <p:ph idx="1"/>
          </p:nvPr>
        </p:nvPicPr>
        <p:blipFill>
          <a:blip r:embed="rId2"/>
          <a:stretch>
            <a:fillRect/>
          </a:stretch>
        </p:blipFill>
        <p:spPr>
          <a:xfrm>
            <a:off x="992285" y="787292"/>
            <a:ext cx="9004752" cy="5944078"/>
          </a:xfrm>
          <a:prstGeom prst="rect">
            <a:avLst/>
          </a:prstGeom>
        </p:spPr>
      </p:pic>
      <p:sp>
        <p:nvSpPr>
          <p:cNvPr id="4" name="Date Placeholder 3">
            <a:extLst>
              <a:ext uri="{FF2B5EF4-FFF2-40B4-BE49-F238E27FC236}">
                <a16:creationId xmlns:a16="http://schemas.microsoft.com/office/drawing/2014/main" id="{41DF84EC-BB4F-DEEA-07CC-7B9472B8BF60}"/>
              </a:ext>
            </a:extLst>
          </p:cNvPr>
          <p:cNvSpPr>
            <a:spLocks noGrp="1"/>
          </p:cNvSpPr>
          <p:nvPr>
            <p:ph type="dt" sz="half" idx="10"/>
          </p:nvPr>
        </p:nvSpPr>
        <p:spPr/>
        <p:txBody>
          <a:bodyPr/>
          <a:lstStyle/>
          <a:p>
            <a:fld id="{64E86823-ECF4-4565-9E4A-210126C2B2F7}" type="datetime1">
              <a:t>25.10.2025</a:t>
            </a:fld>
            <a:endParaRPr lang="en-US" dirty="0"/>
          </a:p>
        </p:txBody>
      </p:sp>
      <p:sp>
        <p:nvSpPr>
          <p:cNvPr id="5" name="Footer Placeholder 4">
            <a:extLst>
              <a:ext uri="{FF2B5EF4-FFF2-40B4-BE49-F238E27FC236}">
                <a16:creationId xmlns:a16="http://schemas.microsoft.com/office/drawing/2014/main" id="{83879539-931B-DB0A-5231-B6ABF3A5194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6959C9F7-C6F6-AD6C-BBB6-52F70C77D252}"/>
              </a:ext>
            </a:extLst>
          </p:cNvPr>
          <p:cNvSpPr>
            <a:spLocks noGrp="1"/>
          </p:cNvSpPr>
          <p:nvPr>
            <p:ph type="sldNum" sz="quarter" idx="12"/>
          </p:nvPr>
        </p:nvSpPr>
        <p:spPr/>
        <p:txBody>
          <a:bodyPr/>
          <a:lstStyle/>
          <a:p>
            <a:fld id="{70C12960-6E85-460F-B6E3-5B82CB31AF3D}" type="slidenum">
              <a:rPr lang="en-US" dirty="0"/>
              <a:t>23</a:t>
            </a:fld>
            <a:endParaRPr lang="en-US" dirty="0"/>
          </a:p>
        </p:txBody>
      </p:sp>
      <p:sp>
        <p:nvSpPr>
          <p:cNvPr id="9" name="TextBox 8">
            <a:extLst>
              <a:ext uri="{FF2B5EF4-FFF2-40B4-BE49-F238E27FC236}">
                <a16:creationId xmlns:a16="http://schemas.microsoft.com/office/drawing/2014/main" id="{A2076CF4-B8B2-4BEE-318B-D244D2CBA97E}"/>
              </a:ext>
            </a:extLst>
          </p:cNvPr>
          <p:cNvSpPr txBox="1"/>
          <p:nvPr/>
        </p:nvSpPr>
        <p:spPr>
          <a:xfrm>
            <a:off x="10471097" y="318304"/>
            <a:ext cx="138363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Aki </a:t>
            </a:r>
            <a:r>
              <a:rPr lang="en-US" dirty="0" err="1"/>
              <a:t>Sartolahti</a:t>
            </a:r>
          </a:p>
        </p:txBody>
      </p:sp>
    </p:spTree>
    <p:extLst>
      <p:ext uri="{BB962C8B-B14F-4D97-AF65-F5344CB8AC3E}">
        <p14:creationId xmlns:p14="http://schemas.microsoft.com/office/powerpoint/2010/main" val="1292338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B03F6057-40FC-A635-E728-F48972C4BCC3}"/>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821C8D51-3118-1D99-EBF9-B12F9284FD09}"/>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127" name="Google Shape;127;p6">
            <a:extLst>
              <a:ext uri="{FF2B5EF4-FFF2-40B4-BE49-F238E27FC236}">
                <a16:creationId xmlns:a16="http://schemas.microsoft.com/office/drawing/2014/main" id="{EB62017E-EA33-C74E-A124-2C22405B876F}"/>
              </a:ext>
            </a:extLst>
          </p:cNvPr>
          <p:cNvSpPr txBox="1">
            <a:spLocks noGrp="1"/>
          </p:cNvSpPr>
          <p:nvPr>
            <p:ph type="title"/>
          </p:nvPr>
        </p:nvSpPr>
        <p:spPr>
          <a:xfrm>
            <a:off x="643467" y="321734"/>
            <a:ext cx="11198466"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dirty="0"/>
              <a:t>Management Satisfaction &amp; Marriage status</a:t>
            </a:r>
            <a:endParaRPr sz="3600" dirty="0"/>
          </a:p>
        </p:txBody>
      </p:sp>
      <p:sp>
        <p:nvSpPr>
          <p:cNvPr id="128" name="Google Shape;128;p6">
            <a:extLst>
              <a:ext uri="{FF2B5EF4-FFF2-40B4-BE49-F238E27FC236}">
                <a16:creationId xmlns:a16="http://schemas.microsoft.com/office/drawing/2014/main" id="{BB2A7D76-FEF9-F4BB-D85C-AAFD13582AE2}"/>
              </a:ext>
            </a:extLst>
          </p:cNvPr>
          <p:cNvSpPr txBox="1">
            <a:spLocks noGrp="1"/>
          </p:cNvSpPr>
          <p:nvPr>
            <p:ph idx="1"/>
          </p:nvPr>
        </p:nvSpPr>
        <p:spPr>
          <a:xfrm>
            <a:off x="643469" y="1782981"/>
            <a:ext cx="4008384"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dirty="0"/>
              <a:t>This bar plot shows the relationship between the workers satisfaction with management and their marriage status.</a:t>
            </a:r>
          </a:p>
          <a:p>
            <a:pPr marL="228600" lvl="0" indent="-228600" algn="l" rtl="0">
              <a:lnSpc>
                <a:spcPct val="90000"/>
              </a:lnSpc>
              <a:spcBef>
                <a:spcPts val="0"/>
              </a:spcBef>
              <a:spcAft>
                <a:spcPts val="0"/>
              </a:spcAft>
              <a:buClr>
                <a:schemeClr val="dk1"/>
              </a:buClr>
              <a:buSzPts val="2000"/>
              <a:buChar char="•"/>
            </a:pPr>
            <a:endParaRPr lang="en-US" sz="2000" dirty="0"/>
          </a:p>
          <a:p>
            <a:pPr marL="228600" lvl="0" indent="-228600" algn="l" rtl="0">
              <a:lnSpc>
                <a:spcPct val="90000"/>
              </a:lnSpc>
              <a:spcBef>
                <a:spcPts val="0"/>
              </a:spcBef>
              <a:spcAft>
                <a:spcPts val="0"/>
              </a:spcAft>
              <a:buClr>
                <a:schemeClr val="dk1"/>
              </a:buClr>
              <a:buSzPts val="2000"/>
              <a:buChar char="•"/>
            </a:pPr>
            <a:r>
              <a:rPr lang="en-US" sz="2000" dirty="0"/>
              <a:t>Married workers tend to be more satisfied than single workers</a:t>
            </a:r>
          </a:p>
          <a:p>
            <a:pPr marL="228600" lvl="0" indent="-228600" algn="l" rtl="0">
              <a:lnSpc>
                <a:spcPct val="90000"/>
              </a:lnSpc>
              <a:spcBef>
                <a:spcPts val="0"/>
              </a:spcBef>
              <a:spcAft>
                <a:spcPts val="0"/>
              </a:spcAft>
              <a:buClr>
                <a:schemeClr val="dk1"/>
              </a:buClr>
              <a:buSzPts val="2000"/>
              <a:buChar char="•"/>
            </a:pPr>
            <a:endParaRPr lang="en-US" sz="2000" dirty="0"/>
          </a:p>
          <a:p>
            <a:pPr>
              <a:lnSpc>
                <a:spcPct val="90000"/>
              </a:lnSpc>
              <a:spcBef>
                <a:spcPts val="0"/>
              </a:spcBef>
              <a:buClr>
                <a:srgbClr val="000000"/>
              </a:buClr>
              <a:buSzPts val="2000"/>
            </a:pPr>
            <a:r>
              <a:rPr lang="en-US" sz="2000" dirty="0">
                <a:latin typeface="Grandview Display"/>
                <a:ea typeface="Calibri"/>
                <a:cs typeface="Calibri"/>
              </a:rPr>
              <a:t>Using a Chi2 test shows </a:t>
            </a:r>
            <a:r>
              <a:rPr lang="en-US" dirty="0">
                <a:latin typeface="Grandview Display"/>
                <a:ea typeface="Calibri"/>
                <a:cs typeface="Calibri"/>
              </a:rPr>
              <a:t>a p value of ~0.22, so </a:t>
            </a:r>
            <a:r>
              <a:rPr lang="en-US" sz="2000" dirty="0">
                <a:latin typeface="Grandview Display"/>
                <a:ea typeface="Calibri"/>
                <a:cs typeface="Calibri"/>
              </a:rPr>
              <a:t>no dependency in management satisfaction and marriage status.</a:t>
            </a:r>
            <a:endParaRPr lang="fi-FI" dirty="0">
              <a:latin typeface="Grandview Display"/>
              <a:ea typeface="Calibri"/>
              <a:cs typeface="Calibri"/>
            </a:endParaRPr>
          </a:p>
          <a:p>
            <a:pPr marL="228600" lvl="0" indent="-228600" algn="l">
              <a:lnSpc>
                <a:spcPct val="90000"/>
              </a:lnSpc>
              <a:spcBef>
                <a:spcPts val="0"/>
              </a:spcBef>
              <a:spcAft>
                <a:spcPts val="0"/>
              </a:spcAft>
              <a:buClr>
                <a:srgbClr val="000000"/>
              </a:buClr>
              <a:buSzPts val="2000"/>
              <a:buChar char="•"/>
            </a:pPr>
            <a:endParaRPr lang="en-US" sz="2000" dirty="0"/>
          </a:p>
          <a:p>
            <a:pPr marL="0" lvl="0" indent="0" algn="l" rtl="0">
              <a:lnSpc>
                <a:spcPct val="90000"/>
              </a:lnSpc>
              <a:spcBef>
                <a:spcPts val="1000"/>
              </a:spcBef>
              <a:spcAft>
                <a:spcPts val="0"/>
              </a:spcAft>
              <a:buClr>
                <a:schemeClr val="dk1"/>
              </a:buClr>
              <a:buSzPts val="2000"/>
              <a:buNone/>
            </a:pPr>
            <a:endParaRPr dirty="0"/>
          </a:p>
        </p:txBody>
      </p:sp>
      <p:grpSp>
        <p:nvGrpSpPr>
          <p:cNvPr id="129" name="Google Shape;129;p6">
            <a:extLst>
              <a:ext uri="{FF2B5EF4-FFF2-40B4-BE49-F238E27FC236}">
                <a16:creationId xmlns:a16="http://schemas.microsoft.com/office/drawing/2014/main" id="{ED5B1B3B-A03D-6E7C-5EA9-26FF8A02FA95}"/>
              </a:ext>
            </a:extLst>
          </p:cNvPr>
          <p:cNvGrpSpPr/>
          <p:nvPr/>
        </p:nvGrpSpPr>
        <p:grpSpPr>
          <a:xfrm>
            <a:off x="0" y="4601497"/>
            <a:ext cx="1014060" cy="2017580"/>
            <a:chOff x="0" y="4601497"/>
            <a:chExt cx="1014060" cy="2017580"/>
          </a:xfrm>
        </p:grpSpPr>
        <p:sp>
          <p:nvSpPr>
            <p:cNvPr id="130" name="Google Shape;130;p6">
              <a:extLst>
                <a:ext uri="{FF2B5EF4-FFF2-40B4-BE49-F238E27FC236}">
                  <a16:creationId xmlns:a16="http://schemas.microsoft.com/office/drawing/2014/main" id="{ACBAB446-B3A7-7A46-5633-9DEECBDE9B1F}"/>
                </a:ext>
              </a:extLst>
            </p:cNvPr>
            <p:cNvSpPr/>
            <p:nvPr/>
          </p:nvSpPr>
          <p:spPr>
            <a:xfrm rot="5400000">
              <a:off x="-501760" y="5103257"/>
              <a:ext cx="2017580" cy="1014060"/>
            </a:xfrm>
            <a:prstGeom prst="triangle">
              <a:avLst>
                <a:gd name="adj" fmla="val 50000"/>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6">
              <a:extLst>
                <a:ext uri="{FF2B5EF4-FFF2-40B4-BE49-F238E27FC236}">
                  <a16:creationId xmlns:a16="http://schemas.microsoft.com/office/drawing/2014/main" id="{AE5CEDF5-CC1B-FC97-FB4C-2D975B33BE2E}"/>
                </a:ext>
              </a:extLst>
            </p:cNvPr>
            <p:cNvSpPr/>
            <p:nvPr/>
          </p:nvSpPr>
          <p:spPr>
            <a:xfrm rot="2700000">
              <a:off x="427916" y="5728708"/>
              <a:ext cx="485578" cy="485578"/>
            </a:xfrm>
            <a:prstGeom prst="rect">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33" name="Google Shape;133;p6">
            <a:extLst>
              <a:ext uri="{FF2B5EF4-FFF2-40B4-BE49-F238E27FC236}">
                <a16:creationId xmlns:a16="http://schemas.microsoft.com/office/drawing/2014/main" id="{694F9ACC-68F5-5206-9922-B1B7B5084DC6}"/>
              </a:ext>
            </a:extLst>
          </p:cNvPr>
          <p:cNvGrpSpPr/>
          <p:nvPr/>
        </p:nvGrpSpPr>
        <p:grpSpPr>
          <a:xfrm>
            <a:off x="11219290" y="1"/>
            <a:ext cx="972709" cy="1935307"/>
            <a:chOff x="10918968" y="713127"/>
            <a:chExt cx="1273032" cy="2532832"/>
          </a:xfrm>
        </p:grpSpPr>
        <p:sp>
          <p:nvSpPr>
            <p:cNvPr id="134" name="Google Shape;134;p6">
              <a:extLst>
                <a:ext uri="{FF2B5EF4-FFF2-40B4-BE49-F238E27FC236}">
                  <a16:creationId xmlns:a16="http://schemas.microsoft.com/office/drawing/2014/main" id="{79B331D6-FA31-C14F-9CF0-7F95B0B677C8}"/>
                </a:ext>
              </a:extLst>
            </p:cNvPr>
            <p:cNvSpPr/>
            <p:nvPr/>
          </p:nvSpPr>
          <p:spPr>
            <a:xfrm rot="2700000">
              <a:off x="11052629" y="2120024"/>
              <a:ext cx="645368" cy="645368"/>
            </a:xfrm>
            <a:prstGeom prst="rect">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 name="Google Shape;135;p6">
              <a:extLst>
                <a:ext uri="{FF2B5EF4-FFF2-40B4-BE49-F238E27FC236}">
                  <a16:creationId xmlns:a16="http://schemas.microsoft.com/office/drawing/2014/main" id="{EC21E1A3-DC29-35AD-E95D-D25E908AEE4A}"/>
                </a:ext>
              </a:extLst>
            </p:cNvPr>
            <p:cNvSpPr/>
            <p:nvPr/>
          </p:nvSpPr>
          <p:spPr>
            <a:xfrm rot="-5400000">
              <a:off x="10289068" y="1343027"/>
              <a:ext cx="2532832" cy="1273032"/>
            </a:xfrm>
            <a:prstGeom prst="triangle">
              <a:avLst>
                <a:gd name="adj" fmla="val 50000"/>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4" name="Kuva 3" descr="Kuva, joka sisältää kohteen teksti, kuvakaappaus, viiva, Värikkyys&#10;&#10;Tekoälyllä luotu sisältö voi olla virheellistä.">
            <a:extLst>
              <a:ext uri="{FF2B5EF4-FFF2-40B4-BE49-F238E27FC236}">
                <a16:creationId xmlns:a16="http://schemas.microsoft.com/office/drawing/2014/main" id="{DE5ADDD5-62DA-96E9-D740-183360B2C91B}"/>
              </a:ext>
            </a:extLst>
          </p:cNvPr>
          <p:cNvPicPr>
            <a:picLocks noChangeAspect="1"/>
          </p:cNvPicPr>
          <p:nvPr/>
        </p:nvPicPr>
        <p:blipFill>
          <a:blip r:embed="rId3"/>
          <a:stretch>
            <a:fillRect/>
          </a:stretch>
        </p:blipFill>
        <p:spPr>
          <a:xfrm>
            <a:off x="4579425" y="1314900"/>
            <a:ext cx="6827941" cy="5221366"/>
          </a:xfrm>
          <a:prstGeom prst="rect">
            <a:avLst/>
          </a:prstGeom>
        </p:spPr>
      </p:pic>
      <p:pic>
        <p:nvPicPr>
          <p:cNvPr id="8" name="Kuva 7">
            <a:extLst>
              <a:ext uri="{FF2B5EF4-FFF2-40B4-BE49-F238E27FC236}">
                <a16:creationId xmlns:a16="http://schemas.microsoft.com/office/drawing/2014/main" id="{EBA0164C-878B-BC3C-8A4A-465567D7E336}"/>
              </a:ext>
            </a:extLst>
          </p:cNvPr>
          <p:cNvPicPr>
            <a:picLocks noChangeAspect="1"/>
          </p:cNvPicPr>
          <p:nvPr/>
        </p:nvPicPr>
        <p:blipFill>
          <a:blip r:embed="rId4"/>
          <a:stretch>
            <a:fillRect/>
          </a:stretch>
        </p:blipFill>
        <p:spPr>
          <a:xfrm>
            <a:off x="72733" y="5938477"/>
            <a:ext cx="5163271" cy="809738"/>
          </a:xfrm>
          <a:prstGeom prst="rect">
            <a:avLst/>
          </a:prstGeom>
        </p:spPr>
      </p:pic>
      <p:sp>
        <p:nvSpPr>
          <p:cNvPr id="3" name="TextBox 2">
            <a:extLst>
              <a:ext uri="{FF2B5EF4-FFF2-40B4-BE49-F238E27FC236}">
                <a16:creationId xmlns:a16="http://schemas.microsoft.com/office/drawing/2014/main" id="{CC9286F5-4B74-FFCA-6B5A-8C3576C48327}"/>
              </a:ext>
            </a:extLst>
          </p:cNvPr>
          <p:cNvSpPr txBox="1"/>
          <p:nvPr/>
        </p:nvSpPr>
        <p:spPr>
          <a:xfrm>
            <a:off x="10471097" y="318304"/>
            <a:ext cx="138363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Aki </a:t>
            </a:r>
            <a:r>
              <a:rPr lang="en-US" dirty="0" err="1"/>
              <a:t>Sartolahti</a:t>
            </a:r>
          </a:p>
        </p:txBody>
      </p:sp>
    </p:spTree>
    <p:extLst>
      <p:ext uri="{BB962C8B-B14F-4D97-AF65-F5344CB8AC3E}">
        <p14:creationId xmlns:p14="http://schemas.microsoft.com/office/powerpoint/2010/main" val="132261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5C813CE8-221E-9BE7-A757-17D086CAB7B9}"/>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C379ECFF-3A5B-7747-CD76-455A212AB5D8}"/>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127" name="Google Shape;127;p6">
            <a:extLst>
              <a:ext uri="{FF2B5EF4-FFF2-40B4-BE49-F238E27FC236}">
                <a16:creationId xmlns:a16="http://schemas.microsoft.com/office/drawing/2014/main" id="{8FA81A0D-4BC3-DE5B-0F85-AD51AF966DC9}"/>
              </a:ext>
            </a:extLst>
          </p:cNvPr>
          <p:cNvSpPr txBox="1">
            <a:spLocks noGrp="1"/>
          </p:cNvSpPr>
          <p:nvPr>
            <p:ph type="title"/>
          </p:nvPr>
        </p:nvSpPr>
        <p:spPr>
          <a:xfrm>
            <a:off x="643467" y="321734"/>
            <a:ext cx="11198466"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dirty="0" err="1"/>
              <a:t>Colleque</a:t>
            </a:r>
            <a:r>
              <a:rPr lang="en-US" sz="3600" dirty="0"/>
              <a:t> Satisfaction &amp; Marriage status</a:t>
            </a:r>
            <a:endParaRPr sz="3600" dirty="0"/>
          </a:p>
        </p:txBody>
      </p:sp>
      <p:sp>
        <p:nvSpPr>
          <p:cNvPr id="128" name="Google Shape;128;p6">
            <a:extLst>
              <a:ext uri="{FF2B5EF4-FFF2-40B4-BE49-F238E27FC236}">
                <a16:creationId xmlns:a16="http://schemas.microsoft.com/office/drawing/2014/main" id="{EEF9FAAA-8C1F-7936-E1F5-6B4ACD952234}"/>
              </a:ext>
            </a:extLst>
          </p:cNvPr>
          <p:cNvSpPr txBox="1">
            <a:spLocks noGrp="1"/>
          </p:cNvSpPr>
          <p:nvPr>
            <p:ph idx="1"/>
          </p:nvPr>
        </p:nvSpPr>
        <p:spPr>
          <a:xfrm>
            <a:off x="643469" y="1782981"/>
            <a:ext cx="4008384"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dirty="0"/>
              <a:t>This bar plot shows the relationship between the workers satisfaction with their </a:t>
            </a:r>
            <a:r>
              <a:rPr lang="en-US" sz="2000" dirty="0" err="1"/>
              <a:t>colleques</a:t>
            </a:r>
            <a:r>
              <a:rPr lang="en-US" sz="2000" dirty="0"/>
              <a:t> and their marriage status.</a:t>
            </a:r>
          </a:p>
          <a:p>
            <a:pPr marL="228600" lvl="0" indent="-228600" algn="l" rtl="0">
              <a:lnSpc>
                <a:spcPct val="90000"/>
              </a:lnSpc>
              <a:spcBef>
                <a:spcPts val="0"/>
              </a:spcBef>
              <a:spcAft>
                <a:spcPts val="0"/>
              </a:spcAft>
              <a:buClr>
                <a:schemeClr val="dk1"/>
              </a:buClr>
              <a:buSzPts val="2000"/>
              <a:buChar char="•"/>
            </a:pPr>
            <a:endParaRPr lang="en-US" sz="2000" dirty="0"/>
          </a:p>
          <a:p>
            <a:pPr marL="228600" lvl="0" indent="-228600" algn="l" rtl="0">
              <a:lnSpc>
                <a:spcPct val="90000"/>
              </a:lnSpc>
              <a:spcBef>
                <a:spcPts val="0"/>
              </a:spcBef>
              <a:spcAft>
                <a:spcPts val="0"/>
              </a:spcAft>
              <a:buClr>
                <a:schemeClr val="dk1"/>
              </a:buClr>
              <a:buSzPts val="2000"/>
              <a:buChar char="•"/>
            </a:pPr>
            <a:r>
              <a:rPr lang="en-US" sz="2000" dirty="0"/>
              <a:t>Most workers gave a positive score</a:t>
            </a:r>
          </a:p>
          <a:p>
            <a:pPr marL="228600" lvl="0" indent="-228600" algn="l" rtl="0">
              <a:lnSpc>
                <a:spcPct val="90000"/>
              </a:lnSpc>
              <a:spcBef>
                <a:spcPts val="0"/>
              </a:spcBef>
              <a:spcAft>
                <a:spcPts val="0"/>
              </a:spcAft>
              <a:buClr>
                <a:schemeClr val="dk1"/>
              </a:buClr>
              <a:buSzPts val="2000"/>
              <a:buChar char="•"/>
            </a:pPr>
            <a:endParaRPr lang="en-US" sz="2000" dirty="0"/>
          </a:p>
          <a:p>
            <a:pPr marL="228600" lvl="0" indent="-228600" algn="l" rtl="0">
              <a:lnSpc>
                <a:spcPct val="90000"/>
              </a:lnSpc>
              <a:spcBef>
                <a:spcPts val="0"/>
              </a:spcBef>
              <a:spcAft>
                <a:spcPts val="0"/>
              </a:spcAft>
              <a:buClr>
                <a:schemeClr val="dk1"/>
              </a:buClr>
              <a:buSzPts val="2000"/>
              <a:buChar char="•"/>
            </a:pPr>
            <a:r>
              <a:rPr lang="en-US" sz="2000" dirty="0"/>
              <a:t>Nobody gave a Very dissatisfied grade in this category</a:t>
            </a:r>
          </a:p>
          <a:p>
            <a:pPr marL="228600" lvl="0" indent="-228600" algn="l" rtl="0">
              <a:lnSpc>
                <a:spcPct val="90000"/>
              </a:lnSpc>
              <a:spcBef>
                <a:spcPts val="0"/>
              </a:spcBef>
              <a:spcAft>
                <a:spcPts val="0"/>
              </a:spcAft>
              <a:buClr>
                <a:schemeClr val="dk1"/>
              </a:buClr>
              <a:buSzPts val="2000"/>
              <a:buChar char="•"/>
            </a:pPr>
            <a:endParaRPr lang="en-US" sz="2000" dirty="0"/>
          </a:p>
          <a:p>
            <a:pPr>
              <a:lnSpc>
                <a:spcPct val="90000"/>
              </a:lnSpc>
              <a:spcBef>
                <a:spcPts val="0"/>
              </a:spcBef>
              <a:buClr>
                <a:schemeClr val="dk1"/>
              </a:buClr>
              <a:buSzPts val="2000"/>
            </a:pPr>
            <a:r>
              <a:rPr lang="en-US" sz="2000" dirty="0"/>
              <a:t>Chi2</a:t>
            </a:r>
            <a:r>
              <a:rPr lang="en-US" dirty="0"/>
              <a:t> test</a:t>
            </a:r>
            <a:r>
              <a:rPr lang="en-US" sz="2000" dirty="0"/>
              <a:t> </a:t>
            </a:r>
            <a:r>
              <a:rPr lang="en-US" dirty="0"/>
              <a:t>gave a p-value of </a:t>
            </a:r>
            <a:r>
              <a:rPr lang="en-US" dirty="0">
                <a:latin typeface="Grandview Display"/>
              </a:rPr>
              <a:t>~0.72</a:t>
            </a:r>
            <a:r>
              <a:rPr lang="en-US" dirty="0"/>
              <a:t>, showing</a:t>
            </a:r>
            <a:r>
              <a:rPr lang="en-US" sz="2000" dirty="0"/>
              <a:t> no dependency in these variables</a:t>
            </a:r>
            <a:endParaRPr dirty="0"/>
          </a:p>
        </p:txBody>
      </p:sp>
      <p:grpSp>
        <p:nvGrpSpPr>
          <p:cNvPr id="129" name="Google Shape;129;p6">
            <a:extLst>
              <a:ext uri="{FF2B5EF4-FFF2-40B4-BE49-F238E27FC236}">
                <a16:creationId xmlns:a16="http://schemas.microsoft.com/office/drawing/2014/main" id="{C3F0A8CC-E137-97A3-3FCC-47DACF519B56}"/>
              </a:ext>
            </a:extLst>
          </p:cNvPr>
          <p:cNvGrpSpPr/>
          <p:nvPr/>
        </p:nvGrpSpPr>
        <p:grpSpPr>
          <a:xfrm>
            <a:off x="0" y="4601497"/>
            <a:ext cx="1014060" cy="2017580"/>
            <a:chOff x="0" y="4601497"/>
            <a:chExt cx="1014060" cy="2017580"/>
          </a:xfrm>
        </p:grpSpPr>
        <p:sp>
          <p:nvSpPr>
            <p:cNvPr id="130" name="Google Shape;130;p6">
              <a:extLst>
                <a:ext uri="{FF2B5EF4-FFF2-40B4-BE49-F238E27FC236}">
                  <a16:creationId xmlns:a16="http://schemas.microsoft.com/office/drawing/2014/main" id="{4C0E1146-7EB0-FA87-340F-06D7D550439C}"/>
                </a:ext>
              </a:extLst>
            </p:cNvPr>
            <p:cNvSpPr/>
            <p:nvPr/>
          </p:nvSpPr>
          <p:spPr>
            <a:xfrm rot="5400000">
              <a:off x="-501760" y="5103257"/>
              <a:ext cx="2017580" cy="1014060"/>
            </a:xfrm>
            <a:prstGeom prst="triangle">
              <a:avLst>
                <a:gd name="adj" fmla="val 50000"/>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6">
              <a:extLst>
                <a:ext uri="{FF2B5EF4-FFF2-40B4-BE49-F238E27FC236}">
                  <a16:creationId xmlns:a16="http://schemas.microsoft.com/office/drawing/2014/main" id="{CAE75B4E-29EA-290B-DE42-297E0BF3E18C}"/>
                </a:ext>
              </a:extLst>
            </p:cNvPr>
            <p:cNvSpPr/>
            <p:nvPr/>
          </p:nvSpPr>
          <p:spPr>
            <a:xfrm rot="2700000">
              <a:off x="427916" y="5728708"/>
              <a:ext cx="485578" cy="485578"/>
            </a:xfrm>
            <a:prstGeom prst="rect">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33" name="Google Shape;133;p6">
            <a:extLst>
              <a:ext uri="{FF2B5EF4-FFF2-40B4-BE49-F238E27FC236}">
                <a16:creationId xmlns:a16="http://schemas.microsoft.com/office/drawing/2014/main" id="{B54ADC9C-6CF2-7290-86CB-AED11CBAA125}"/>
              </a:ext>
            </a:extLst>
          </p:cNvPr>
          <p:cNvGrpSpPr/>
          <p:nvPr/>
        </p:nvGrpSpPr>
        <p:grpSpPr>
          <a:xfrm>
            <a:off x="11219290" y="1"/>
            <a:ext cx="972709" cy="1935307"/>
            <a:chOff x="10918968" y="713127"/>
            <a:chExt cx="1273032" cy="2532832"/>
          </a:xfrm>
        </p:grpSpPr>
        <p:sp>
          <p:nvSpPr>
            <p:cNvPr id="134" name="Google Shape;134;p6">
              <a:extLst>
                <a:ext uri="{FF2B5EF4-FFF2-40B4-BE49-F238E27FC236}">
                  <a16:creationId xmlns:a16="http://schemas.microsoft.com/office/drawing/2014/main" id="{EB58A9C0-DBB8-4D99-76C0-827BC7910660}"/>
                </a:ext>
              </a:extLst>
            </p:cNvPr>
            <p:cNvSpPr/>
            <p:nvPr/>
          </p:nvSpPr>
          <p:spPr>
            <a:xfrm rot="2700000">
              <a:off x="11052629" y="2120024"/>
              <a:ext cx="645368" cy="645368"/>
            </a:xfrm>
            <a:prstGeom prst="rect">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 name="Google Shape;135;p6">
              <a:extLst>
                <a:ext uri="{FF2B5EF4-FFF2-40B4-BE49-F238E27FC236}">
                  <a16:creationId xmlns:a16="http://schemas.microsoft.com/office/drawing/2014/main" id="{09B39472-F0E8-3605-D1B0-87D163D755B1}"/>
                </a:ext>
              </a:extLst>
            </p:cNvPr>
            <p:cNvSpPr/>
            <p:nvPr/>
          </p:nvSpPr>
          <p:spPr>
            <a:xfrm rot="-5400000">
              <a:off x="10289068" y="1343027"/>
              <a:ext cx="2532832" cy="1273032"/>
            </a:xfrm>
            <a:prstGeom prst="triangle">
              <a:avLst>
                <a:gd name="adj" fmla="val 50000"/>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7" name="Kuva 6">
            <a:extLst>
              <a:ext uri="{FF2B5EF4-FFF2-40B4-BE49-F238E27FC236}">
                <a16:creationId xmlns:a16="http://schemas.microsoft.com/office/drawing/2014/main" id="{4D4CFDCB-030B-65C3-FE6B-4EA072F621B6}"/>
              </a:ext>
            </a:extLst>
          </p:cNvPr>
          <p:cNvPicPr>
            <a:picLocks noChangeAspect="1"/>
          </p:cNvPicPr>
          <p:nvPr/>
        </p:nvPicPr>
        <p:blipFill>
          <a:blip r:embed="rId3"/>
          <a:stretch>
            <a:fillRect/>
          </a:stretch>
        </p:blipFill>
        <p:spPr>
          <a:xfrm>
            <a:off x="913553" y="6043068"/>
            <a:ext cx="3991532" cy="809738"/>
          </a:xfrm>
          <a:prstGeom prst="rect">
            <a:avLst/>
          </a:prstGeom>
        </p:spPr>
      </p:pic>
      <p:pic>
        <p:nvPicPr>
          <p:cNvPr id="9" name="Kuva 8" descr="Kuva, joka sisältää kohteen teksti, kuvakaappaus, viiva, Fontti&#10;&#10;Tekoälyllä luotu sisältö voi olla virheellistä.">
            <a:extLst>
              <a:ext uri="{FF2B5EF4-FFF2-40B4-BE49-F238E27FC236}">
                <a16:creationId xmlns:a16="http://schemas.microsoft.com/office/drawing/2014/main" id="{8AA34639-DCC1-39CF-058E-E1ADC32DF710}"/>
              </a:ext>
            </a:extLst>
          </p:cNvPr>
          <p:cNvPicPr>
            <a:picLocks noChangeAspect="1"/>
          </p:cNvPicPr>
          <p:nvPr/>
        </p:nvPicPr>
        <p:blipFill>
          <a:blip r:embed="rId4"/>
          <a:stretch>
            <a:fillRect/>
          </a:stretch>
        </p:blipFill>
        <p:spPr>
          <a:xfrm>
            <a:off x="4906104" y="1270737"/>
            <a:ext cx="5963120" cy="4560032"/>
          </a:xfrm>
          <a:prstGeom prst="rect">
            <a:avLst/>
          </a:prstGeom>
        </p:spPr>
      </p:pic>
      <p:sp>
        <p:nvSpPr>
          <p:cNvPr id="3" name="TextBox 2">
            <a:extLst>
              <a:ext uri="{FF2B5EF4-FFF2-40B4-BE49-F238E27FC236}">
                <a16:creationId xmlns:a16="http://schemas.microsoft.com/office/drawing/2014/main" id="{CFDD7E6D-0D38-B2E3-6895-DF0CE5B39B23}"/>
              </a:ext>
            </a:extLst>
          </p:cNvPr>
          <p:cNvSpPr txBox="1"/>
          <p:nvPr/>
        </p:nvSpPr>
        <p:spPr>
          <a:xfrm>
            <a:off x="10471097" y="318304"/>
            <a:ext cx="138363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Aki </a:t>
            </a:r>
            <a:r>
              <a:rPr lang="en-US" dirty="0" err="1"/>
              <a:t>Sartolahti</a:t>
            </a:r>
          </a:p>
        </p:txBody>
      </p:sp>
    </p:spTree>
    <p:extLst>
      <p:ext uri="{BB962C8B-B14F-4D97-AF65-F5344CB8AC3E}">
        <p14:creationId xmlns:p14="http://schemas.microsoft.com/office/powerpoint/2010/main" val="34608693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5">
          <a:extLst>
            <a:ext uri="{FF2B5EF4-FFF2-40B4-BE49-F238E27FC236}">
              <a16:creationId xmlns:a16="http://schemas.microsoft.com/office/drawing/2014/main" id="{9C6EF5F0-732A-962C-F196-D38EEE70D166}"/>
            </a:ext>
          </a:extLst>
        </p:cNvPr>
        <p:cNvGrpSpPr/>
        <p:nvPr/>
      </p:nvGrpSpPr>
      <p:grpSpPr>
        <a:xfrm>
          <a:off x="0" y="0"/>
          <a:ext cx="0" cy="0"/>
          <a:chOff x="0" y="0"/>
          <a:chExt cx="0" cy="0"/>
        </a:xfrm>
      </p:grpSpPr>
      <p:sp>
        <p:nvSpPr>
          <p:cNvPr id="256" name="Google Shape;256;p14">
            <a:extLst>
              <a:ext uri="{FF2B5EF4-FFF2-40B4-BE49-F238E27FC236}">
                <a16:creationId xmlns:a16="http://schemas.microsoft.com/office/drawing/2014/main" id="{FB06AD0C-10DD-7305-EFC3-1448D486B295}"/>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7" name="Google Shape;257;p14">
            <a:extLst>
              <a:ext uri="{FF2B5EF4-FFF2-40B4-BE49-F238E27FC236}">
                <a16:creationId xmlns:a16="http://schemas.microsoft.com/office/drawing/2014/main" id="{E0999A94-09C2-2485-9964-3CD04A3845A6}"/>
              </a:ext>
            </a:extLst>
          </p:cNvPr>
          <p:cNvSpPr txBox="1">
            <a:spLocks noGrp="1"/>
          </p:cNvSpPr>
          <p:nvPr>
            <p:ph type="title"/>
          </p:nvPr>
        </p:nvSpPr>
        <p:spPr>
          <a:xfrm>
            <a:off x="643467" y="321734"/>
            <a:ext cx="10905066"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dirty="0"/>
              <a:t>Analyzing dependency between years of service and </a:t>
            </a:r>
            <a:r>
              <a:rPr lang="en-US" sz="3600" dirty="0" err="1"/>
              <a:t>colleque</a:t>
            </a:r>
            <a:r>
              <a:rPr lang="en-US" sz="3600" dirty="0"/>
              <a:t> satisfaction</a:t>
            </a:r>
            <a:endParaRPr sz="3600" dirty="0"/>
          </a:p>
        </p:txBody>
      </p:sp>
      <p:sp>
        <p:nvSpPr>
          <p:cNvPr id="258" name="Google Shape;258;p14">
            <a:extLst>
              <a:ext uri="{FF2B5EF4-FFF2-40B4-BE49-F238E27FC236}">
                <a16:creationId xmlns:a16="http://schemas.microsoft.com/office/drawing/2014/main" id="{38873E13-C39B-E411-6010-F02158829370}"/>
              </a:ext>
            </a:extLst>
          </p:cNvPr>
          <p:cNvSpPr txBox="1">
            <a:spLocks noGrp="1"/>
          </p:cNvSpPr>
          <p:nvPr>
            <p:ph idx="1"/>
          </p:nvPr>
        </p:nvSpPr>
        <p:spPr>
          <a:xfrm>
            <a:off x="643469" y="1782981"/>
            <a:ext cx="4008384"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dk1"/>
              </a:buClr>
              <a:buSzPts val="2000"/>
              <a:buChar char="•"/>
            </a:pPr>
            <a:r>
              <a:rPr lang="fi-FI" sz="2000" dirty="0" err="1"/>
              <a:t>The</a:t>
            </a:r>
            <a:r>
              <a:rPr lang="fi-FI" sz="2000" dirty="0"/>
              <a:t> </a:t>
            </a:r>
            <a:r>
              <a:rPr lang="fi-FI" sz="2000" dirty="0" err="1"/>
              <a:t>relationship</a:t>
            </a:r>
            <a:r>
              <a:rPr lang="fi-FI" sz="2000" dirty="0"/>
              <a:t> </a:t>
            </a:r>
            <a:r>
              <a:rPr lang="fi-FI" sz="2000" dirty="0" err="1"/>
              <a:t>between</a:t>
            </a:r>
            <a:r>
              <a:rPr lang="fi-FI" sz="2000" dirty="0"/>
              <a:t> </a:t>
            </a:r>
            <a:r>
              <a:rPr lang="fi-FI" sz="2000" dirty="0" err="1"/>
              <a:t>work</a:t>
            </a:r>
            <a:r>
              <a:rPr lang="fi-FI" sz="2000" dirty="0"/>
              <a:t> </a:t>
            </a:r>
            <a:r>
              <a:rPr lang="fi-FI" sz="2000" dirty="0" err="1"/>
              <a:t>years</a:t>
            </a:r>
            <a:r>
              <a:rPr lang="fi-FI" sz="2000" dirty="0"/>
              <a:t> and </a:t>
            </a:r>
            <a:r>
              <a:rPr lang="fi-FI" sz="2000" dirty="0" err="1"/>
              <a:t>colleque</a:t>
            </a:r>
            <a:r>
              <a:rPr lang="fi-FI" sz="2000" dirty="0"/>
              <a:t> </a:t>
            </a:r>
            <a:r>
              <a:rPr lang="fi-FI" sz="2000" dirty="0" err="1"/>
              <a:t>satisfaction</a:t>
            </a:r>
            <a:r>
              <a:rPr lang="fi-FI" sz="2000" dirty="0"/>
              <a:t> </a:t>
            </a:r>
            <a:r>
              <a:rPr lang="fi-FI" sz="2000" dirty="0" err="1"/>
              <a:t>mostly</a:t>
            </a:r>
            <a:r>
              <a:rPr lang="fi-FI" sz="2000" dirty="0"/>
              <a:t> </a:t>
            </a:r>
            <a:r>
              <a:rPr lang="fi-FI" sz="2000" dirty="0" err="1"/>
              <a:t>increase</a:t>
            </a:r>
            <a:r>
              <a:rPr lang="fi-FI" sz="2000" dirty="0"/>
              <a:t> </a:t>
            </a:r>
            <a:r>
              <a:rPr lang="fi-FI" sz="2000" dirty="0" err="1"/>
              <a:t>with</a:t>
            </a:r>
            <a:r>
              <a:rPr lang="fi-FI" sz="2000" dirty="0"/>
              <a:t> </a:t>
            </a:r>
            <a:r>
              <a:rPr lang="fi-FI" sz="2000" dirty="0" err="1"/>
              <a:t>work</a:t>
            </a:r>
            <a:r>
              <a:rPr lang="fi-FI" sz="2000" dirty="0"/>
              <a:t> </a:t>
            </a:r>
            <a:r>
              <a:rPr lang="fi-FI" sz="2000" dirty="0" err="1"/>
              <a:t>years</a:t>
            </a:r>
            <a:r>
              <a:rPr lang="fi-FI" sz="2000" dirty="0"/>
              <a:t>, and is </a:t>
            </a:r>
            <a:r>
              <a:rPr lang="fi-FI" sz="2000" dirty="0" err="1"/>
              <a:t>mostly</a:t>
            </a:r>
            <a:r>
              <a:rPr lang="fi-FI" sz="2000" dirty="0"/>
              <a:t> </a:t>
            </a:r>
            <a:r>
              <a:rPr lang="fi-FI" sz="2000" dirty="0" err="1"/>
              <a:t>positive</a:t>
            </a:r>
            <a:r>
              <a:rPr lang="fi-FI" sz="2000" dirty="0"/>
              <a:t> </a:t>
            </a:r>
            <a:r>
              <a:rPr lang="fi-FI" sz="2000" dirty="0" err="1"/>
              <a:t>across</a:t>
            </a:r>
            <a:r>
              <a:rPr lang="fi-FI" sz="2000" dirty="0"/>
              <a:t> </a:t>
            </a:r>
            <a:r>
              <a:rPr lang="fi-FI" sz="2000" dirty="0" err="1"/>
              <a:t>the</a:t>
            </a:r>
            <a:r>
              <a:rPr lang="fi-FI" sz="2000" dirty="0"/>
              <a:t> </a:t>
            </a:r>
            <a:r>
              <a:rPr lang="fi-FI" sz="2000" dirty="0" err="1"/>
              <a:t>board</a:t>
            </a:r>
            <a:endParaRPr lang="fi-FI" sz="2000" dirty="0"/>
          </a:p>
          <a:p>
            <a:pPr>
              <a:lnSpc>
                <a:spcPct val="90000"/>
              </a:lnSpc>
              <a:buClr>
                <a:schemeClr val="dk1"/>
              </a:buClr>
              <a:buSzPts val="2000"/>
            </a:pPr>
            <a:r>
              <a:rPr lang="en-US" sz="2000" dirty="0"/>
              <a:t>Chi2 test with the work years categorized shows </a:t>
            </a:r>
            <a:r>
              <a:rPr lang="en-US" dirty="0"/>
              <a:t>a p-value of </a:t>
            </a:r>
            <a:r>
              <a:rPr lang="en-US" dirty="0">
                <a:latin typeface="Grandview Display"/>
              </a:rPr>
              <a:t>~0.52</a:t>
            </a:r>
            <a:r>
              <a:rPr lang="en-US" dirty="0"/>
              <a:t> </a:t>
            </a:r>
            <a:r>
              <a:rPr lang="en-US" sz="2000" dirty="0"/>
              <a:t>no dependency with the variables</a:t>
            </a:r>
            <a:endParaRPr lang="en-US" dirty="0"/>
          </a:p>
          <a:p>
            <a:pPr marL="228600" lvl="0" indent="-228600" algn="l" rtl="0">
              <a:lnSpc>
                <a:spcPct val="90000"/>
              </a:lnSpc>
              <a:spcBef>
                <a:spcPts val="1000"/>
              </a:spcBef>
              <a:spcAft>
                <a:spcPts val="0"/>
              </a:spcAft>
              <a:buClr>
                <a:schemeClr val="dk1"/>
              </a:buClr>
              <a:buSzPts val="2000"/>
              <a:buChar char="•"/>
            </a:pPr>
            <a:endParaRPr dirty="0"/>
          </a:p>
          <a:p>
            <a:pPr marL="228600" lvl="0" indent="-228600" algn="l" rtl="0">
              <a:lnSpc>
                <a:spcPct val="90000"/>
              </a:lnSpc>
              <a:spcBef>
                <a:spcPts val="1000"/>
              </a:spcBef>
              <a:spcAft>
                <a:spcPts val="0"/>
              </a:spcAft>
              <a:buClr>
                <a:schemeClr val="dk1"/>
              </a:buClr>
              <a:buSzPts val="2000"/>
              <a:buChar char="•"/>
            </a:pPr>
            <a:r>
              <a:rPr lang="en-US" sz="2000" dirty="0"/>
              <a:t>…</a:t>
            </a:r>
            <a:endParaRPr dirty="0"/>
          </a:p>
        </p:txBody>
      </p:sp>
      <p:grpSp>
        <p:nvGrpSpPr>
          <p:cNvPr id="259" name="Google Shape;259;p14">
            <a:extLst>
              <a:ext uri="{FF2B5EF4-FFF2-40B4-BE49-F238E27FC236}">
                <a16:creationId xmlns:a16="http://schemas.microsoft.com/office/drawing/2014/main" id="{B5370025-44AA-4FEC-5EBC-8A9C0121D23F}"/>
              </a:ext>
            </a:extLst>
          </p:cNvPr>
          <p:cNvGrpSpPr/>
          <p:nvPr/>
        </p:nvGrpSpPr>
        <p:grpSpPr>
          <a:xfrm>
            <a:off x="11219290" y="1"/>
            <a:ext cx="972709" cy="1935307"/>
            <a:chOff x="10918968" y="713127"/>
            <a:chExt cx="1273032" cy="2532832"/>
          </a:xfrm>
        </p:grpSpPr>
        <p:sp>
          <p:nvSpPr>
            <p:cNvPr id="260" name="Google Shape;260;p14">
              <a:extLst>
                <a:ext uri="{FF2B5EF4-FFF2-40B4-BE49-F238E27FC236}">
                  <a16:creationId xmlns:a16="http://schemas.microsoft.com/office/drawing/2014/main" id="{318B17F2-8F4E-B53C-1E59-CF9B0C20FA16}"/>
                </a:ext>
              </a:extLst>
            </p:cNvPr>
            <p:cNvSpPr/>
            <p:nvPr/>
          </p:nvSpPr>
          <p:spPr>
            <a:xfrm rot="2700000">
              <a:off x="11052629" y="2120024"/>
              <a:ext cx="645368" cy="645368"/>
            </a:xfrm>
            <a:prstGeom prst="rect">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1" name="Google Shape;261;p14">
              <a:extLst>
                <a:ext uri="{FF2B5EF4-FFF2-40B4-BE49-F238E27FC236}">
                  <a16:creationId xmlns:a16="http://schemas.microsoft.com/office/drawing/2014/main" id="{9230804B-A384-7EEF-2C08-0C195B93FA6D}"/>
                </a:ext>
              </a:extLst>
            </p:cNvPr>
            <p:cNvSpPr/>
            <p:nvPr/>
          </p:nvSpPr>
          <p:spPr>
            <a:xfrm rot="-5400000">
              <a:off x="10289068" y="1343027"/>
              <a:ext cx="2532832" cy="1273032"/>
            </a:xfrm>
            <a:prstGeom prst="triangle">
              <a:avLst>
                <a:gd name="adj" fmla="val 50000"/>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262" name="Google Shape;262;p14">
            <a:extLst>
              <a:ext uri="{FF2B5EF4-FFF2-40B4-BE49-F238E27FC236}">
                <a16:creationId xmlns:a16="http://schemas.microsoft.com/office/drawing/2014/main" id="{C13EAAD9-64D7-17D4-BCCE-1B0F3A82A057}"/>
              </a:ext>
            </a:extLst>
          </p:cNvPr>
          <p:cNvGrpSpPr/>
          <p:nvPr/>
        </p:nvGrpSpPr>
        <p:grpSpPr>
          <a:xfrm>
            <a:off x="0" y="4601497"/>
            <a:ext cx="1014060" cy="2017580"/>
            <a:chOff x="0" y="4601497"/>
            <a:chExt cx="1014060" cy="2017580"/>
          </a:xfrm>
        </p:grpSpPr>
        <p:sp>
          <p:nvSpPr>
            <p:cNvPr id="263" name="Google Shape;263;p14">
              <a:extLst>
                <a:ext uri="{FF2B5EF4-FFF2-40B4-BE49-F238E27FC236}">
                  <a16:creationId xmlns:a16="http://schemas.microsoft.com/office/drawing/2014/main" id="{1FF2EFBD-658E-CC2D-3AD6-3F3AA3C903C6}"/>
                </a:ext>
              </a:extLst>
            </p:cNvPr>
            <p:cNvSpPr/>
            <p:nvPr/>
          </p:nvSpPr>
          <p:spPr>
            <a:xfrm rot="5400000">
              <a:off x="-501760" y="5103257"/>
              <a:ext cx="2017580" cy="1014060"/>
            </a:xfrm>
            <a:prstGeom prst="triangle">
              <a:avLst>
                <a:gd name="adj" fmla="val 50000"/>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p14">
              <a:extLst>
                <a:ext uri="{FF2B5EF4-FFF2-40B4-BE49-F238E27FC236}">
                  <a16:creationId xmlns:a16="http://schemas.microsoft.com/office/drawing/2014/main" id="{2AA6B1DF-42B5-513B-2BA1-E3FBEDB711CF}"/>
                </a:ext>
              </a:extLst>
            </p:cNvPr>
            <p:cNvSpPr/>
            <p:nvPr/>
          </p:nvSpPr>
          <p:spPr>
            <a:xfrm rot="2700000">
              <a:off x="427916" y="5728708"/>
              <a:ext cx="485578" cy="485578"/>
            </a:xfrm>
            <a:prstGeom prst="rect">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 name="Kuva 2" descr="Kuva, joka sisältää kohteen diagrammi, teksti, Suorakaide, kuvakaappaus&#10;&#10;Tekoälyllä luotu sisältö voi olla virheellistä.">
            <a:extLst>
              <a:ext uri="{FF2B5EF4-FFF2-40B4-BE49-F238E27FC236}">
                <a16:creationId xmlns:a16="http://schemas.microsoft.com/office/drawing/2014/main" id="{11147423-0E43-408E-91E3-E2E1A22BCFE4}"/>
              </a:ext>
            </a:extLst>
          </p:cNvPr>
          <p:cNvPicPr>
            <a:picLocks noChangeAspect="1"/>
          </p:cNvPicPr>
          <p:nvPr/>
        </p:nvPicPr>
        <p:blipFill>
          <a:blip r:embed="rId3"/>
          <a:stretch>
            <a:fillRect/>
          </a:stretch>
        </p:blipFill>
        <p:spPr>
          <a:xfrm>
            <a:off x="5176901" y="1670241"/>
            <a:ext cx="5922648" cy="4795026"/>
          </a:xfrm>
          <a:prstGeom prst="rect">
            <a:avLst/>
          </a:prstGeom>
        </p:spPr>
      </p:pic>
      <p:pic>
        <p:nvPicPr>
          <p:cNvPr id="6" name="Kuva 5">
            <a:extLst>
              <a:ext uri="{FF2B5EF4-FFF2-40B4-BE49-F238E27FC236}">
                <a16:creationId xmlns:a16="http://schemas.microsoft.com/office/drawing/2014/main" id="{65DF1D5B-C37E-FACC-AD31-3298A2581CE6}"/>
              </a:ext>
            </a:extLst>
          </p:cNvPr>
          <p:cNvPicPr>
            <a:picLocks noChangeAspect="1"/>
          </p:cNvPicPr>
          <p:nvPr/>
        </p:nvPicPr>
        <p:blipFill>
          <a:blip r:embed="rId4"/>
          <a:stretch>
            <a:fillRect/>
          </a:stretch>
        </p:blipFill>
        <p:spPr>
          <a:xfrm>
            <a:off x="755584" y="4674317"/>
            <a:ext cx="3896269" cy="1790950"/>
          </a:xfrm>
          <a:prstGeom prst="rect">
            <a:avLst/>
          </a:prstGeom>
        </p:spPr>
      </p:pic>
      <p:sp>
        <p:nvSpPr>
          <p:cNvPr id="4" name="TextBox 3">
            <a:extLst>
              <a:ext uri="{FF2B5EF4-FFF2-40B4-BE49-F238E27FC236}">
                <a16:creationId xmlns:a16="http://schemas.microsoft.com/office/drawing/2014/main" id="{B8582D1F-D19E-5FF7-3CB0-5AF42C763EA3}"/>
              </a:ext>
            </a:extLst>
          </p:cNvPr>
          <p:cNvSpPr txBox="1"/>
          <p:nvPr/>
        </p:nvSpPr>
        <p:spPr>
          <a:xfrm>
            <a:off x="10471097" y="318304"/>
            <a:ext cx="138363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Aki </a:t>
            </a:r>
            <a:r>
              <a:rPr lang="en-US" dirty="0" err="1"/>
              <a:t>Sartolahti</a:t>
            </a:r>
          </a:p>
        </p:txBody>
      </p:sp>
    </p:spTree>
    <p:extLst>
      <p:ext uri="{BB962C8B-B14F-4D97-AF65-F5344CB8AC3E}">
        <p14:creationId xmlns:p14="http://schemas.microsoft.com/office/powerpoint/2010/main" val="24022737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5">
          <a:extLst>
            <a:ext uri="{FF2B5EF4-FFF2-40B4-BE49-F238E27FC236}">
              <a16:creationId xmlns:a16="http://schemas.microsoft.com/office/drawing/2014/main" id="{03F5DA88-E3E7-98F7-1720-8C1B8CB1D828}"/>
            </a:ext>
          </a:extLst>
        </p:cNvPr>
        <p:cNvGrpSpPr/>
        <p:nvPr/>
      </p:nvGrpSpPr>
      <p:grpSpPr>
        <a:xfrm>
          <a:off x="0" y="0"/>
          <a:ext cx="0" cy="0"/>
          <a:chOff x="0" y="0"/>
          <a:chExt cx="0" cy="0"/>
        </a:xfrm>
      </p:grpSpPr>
      <p:sp>
        <p:nvSpPr>
          <p:cNvPr id="256" name="Google Shape;256;p14">
            <a:extLst>
              <a:ext uri="{FF2B5EF4-FFF2-40B4-BE49-F238E27FC236}">
                <a16:creationId xmlns:a16="http://schemas.microsoft.com/office/drawing/2014/main" id="{0AF1FCB4-0CC4-504C-1BA8-A7E61244CAD0}"/>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7" name="Google Shape;257;p14">
            <a:extLst>
              <a:ext uri="{FF2B5EF4-FFF2-40B4-BE49-F238E27FC236}">
                <a16:creationId xmlns:a16="http://schemas.microsoft.com/office/drawing/2014/main" id="{F9E57B4B-488B-63F9-4D35-F51D37A73DFC}"/>
              </a:ext>
            </a:extLst>
          </p:cNvPr>
          <p:cNvSpPr txBox="1">
            <a:spLocks noGrp="1"/>
          </p:cNvSpPr>
          <p:nvPr>
            <p:ph type="title"/>
          </p:nvPr>
        </p:nvSpPr>
        <p:spPr>
          <a:xfrm>
            <a:off x="643467" y="321734"/>
            <a:ext cx="10905066"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dirty="0"/>
              <a:t>Analyzing dependency between years of service and salary satisfaction</a:t>
            </a:r>
            <a:endParaRPr sz="3600" dirty="0"/>
          </a:p>
        </p:txBody>
      </p:sp>
      <p:sp>
        <p:nvSpPr>
          <p:cNvPr id="258" name="Google Shape;258;p14">
            <a:extLst>
              <a:ext uri="{FF2B5EF4-FFF2-40B4-BE49-F238E27FC236}">
                <a16:creationId xmlns:a16="http://schemas.microsoft.com/office/drawing/2014/main" id="{827184E9-31B5-621E-E273-62469E549F5A}"/>
              </a:ext>
            </a:extLst>
          </p:cNvPr>
          <p:cNvSpPr txBox="1">
            <a:spLocks noGrp="1"/>
          </p:cNvSpPr>
          <p:nvPr>
            <p:ph idx="1"/>
          </p:nvPr>
        </p:nvSpPr>
        <p:spPr>
          <a:xfrm>
            <a:off x="643469" y="1782981"/>
            <a:ext cx="4008384"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1000"/>
              </a:spcBef>
              <a:spcAft>
                <a:spcPts val="0"/>
              </a:spcAft>
              <a:buClr>
                <a:schemeClr val="dk1"/>
              </a:buClr>
              <a:buSzPts val="2000"/>
              <a:buChar char="•"/>
            </a:pPr>
            <a:r>
              <a:rPr lang="fi-FI" sz="2000" dirty="0" err="1"/>
              <a:t>The</a:t>
            </a:r>
            <a:r>
              <a:rPr lang="fi-FI" sz="2000" dirty="0"/>
              <a:t> </a:t>
            </a:r>
            <a:r>
              <a:rPr lang="fi-FI" sz="2000" dirty="0" err="1"/>
              <a:t>relationship</a:t>
            </a:r>
            <a:r>
              <a:rPr lang="fi-FI" sz="2000" dirty="0"/>
              <a:t> </a:t>
            </a:r>
            <a:r>
              <a:rPr lang="fi-FI" sz="2000" dirty="0" err="1"/>
              <a:t>between</a:t>
            </a:r>
            <a:r>
              <a:rPr lang="fi-FI" sz="2000" dirty="0"/>
              <a:t> </a:t>
            </a:r>
            <a:r>
              <a:rPr lang="fi-FI" sz="2000" dirty="0" err="1"/>
              <a:t>work</a:t>
            </a:r>
            <a:r>
              <a:rPr lang="fi-FI" sz="2000" dirty="0"/>
              <a:t> </a:t>
            </a:r>
            <a:r>
              <a:rPr lang="fi-FI" sz="2000" dirty="0" err="1"/>
              <a:t>years</a:t>
            </a:r>
            <a:r>
              <a:rPr lang="fi-FI" sz="2000" dirty="0"/>
              <a:t> and </a:t>
            </a:r>
            <a:r>
              <a:rPr lang="fi-FI" sz="2000" dirty="0" err="1"/>
              <a:t>salary</a:t>
            </a:r>
            <a:r>
              <a:rPr lang="fi-FI" sz="2000" dirty="0"/>
              <a:t> </a:t>
            </a:r>
            <a:r>
              <a:rPr lang="fi-FI" sz="2000" dirty="0" err="1"/>
              <a:t>satisfaction</a:t>
            </a:r>
            <a:r>
              <a:rPr lang="fi-FI" sz="2000" dirty="0"/>
              <a:t> </a:t>
            </a:r>
            <a:r>
              <a:rPr lang="fi-FI" sz="2000" dirty="0" err="1"/>
              <a:t>skews</a:t>
            </a:r>
            <a:r>
              <a:rPr lang="fi-FI" sz="2000" dirty="0"/>
              <a:t> </a:t>
            </a:r>
            <a:r>
              <a:rPr lang="fi-FI" sz="2000" dirty="0" err="1"/>
              <a:t>toward</a:t>
            </a:r>
            <a:r>
              <a:rPr lang="fi-FI" sz="2000" dirty="0"/>
              <a:t> </a:t>
            </a:r>
            <a:r>
              <a:rPr lang="fi-FI" sz="2000" dirty="0" err="1"/>
              <a:t>dissatisfied</a:t>
            </a:r>
            <a:r>
              <a:rPr lang="fi-FI" sz="2000" dirty="0"/>
              <a:t>, </a:t>
            </a:r>
            <a:r>
              <a:rPr lang="fi-FI" sz="2000" dirty="0" err="1"/>
              <a:t>without</a:t>
            </a:r>
            <a:r>
              <a:rPr lang="fi-FI" sz="2000" dirty="0"/>
              <a:t> </a:t>
            </a:r>
            <a:r>
              <a:rPr lang="fi-FI" sz="2000" dirty="0" err="1"/>
              <a:t>much</a:t>
            </a:r>
            <a:r>
              <a:rPr lang="fi-FI" sz="2000" dirty="0"/>
              <a:t> </a:t>
            </a:r>
            <a:r>
              <a:rPr lang="fi-FI" sz="2000" dirty="0" err="1"/>
              <a:t>visible</a:t>
            </a:r>
            <a:r>
              <a:rPr lang="fi-FI" sz="2000" dirty="0"/>
              <a:t> </a:t>
            </a:r>
            <a:r>
              <a:rPr lang="fi-FI" sz="2000" dirty="0" err="1"/>
              <a:t>effect</a:t>
            </a:r>
            <a:r>
              <a:rPr lang="fi-FI" sz="2000" dirty="0"/>
              <a:t> on </a:t>
            </a:r>
            <a:r>
              <a:rPr lang="fi-FI" sz="2000" dirty="0" err="1"/>
              <a:t>years</a:t>
            </a:r>
            <a:r>
              <a:rPr lang="fi-FI" sz="2000" dirty="0"/>
              <a:t> </a:t>
            </a:r>
            <a:r>
              <a:rPr lang="fi-FI" sz="2000" dirty="0" err="1"/>
              <a:t>worked</a:t>
            </a:r>
            <a:r>
              <a:rPr lang="fi-FI" sz="2000" dirty="0"/>
              <a:t>.</a:t>
            </a:r>
          </a:p>
          <a:p>
            <a:pPr>
              <a:lnSpc>
                <a:spcPct val="90000"/>
              </a:lnSpc>
              <a:buClr>
                <a:schemeClr val="dk1"/>
              </a:buClr>
              <a:buSzPts val="2000"/>
            </a:pPr>
            <a:r>
              <a:rPr lang="en-US" sz="2000" dirty="0"/>
              <a:t>Running the chi2 test with the work years categorized </a:t>
            </a:r>
            <a:r>
              <a:rPr lang="en-US" dirty="0"/>
              <a:t>gave</a:t>
            </a:r>
            <a:r>
              <a:rPr lang="en-US" sz="2000" dirty="0"/>
              <a:t> </a:t>
            </a:r>
            <a:r>
              <a:rPr lang="en-US" dirty="0"/>
              <a:t>a p-value of </a:t>
            </a:r>
            <a:r>
              <a:rPr lang="en-US" dirty="0">
                <a:latin typeface="Grandview Display"/>
              </a:rPr>
              <a:t>~0.88</a:t>
            </a:r>
            <a:r>
              <a:rPr lang="en-US" dirty="0"/>
              <a:t>, </a:t>
            </a:r>
            <a:r>
              <a:rPr lang="en-US" sz="2000" dirty="0"/>
              <a:t>no dependency with the variables</a:t>
            </a:r>
            <a:endParaRPr lang="en-US" dirty="0"/>
          </a:p>
          <a:p>
            <a:pPr marL="228600" lvl="0" indent="-228600" algn="l" rtl="0">
              <a:lnSpc>
                <a:spcPct val="90000"/>
              </a:lnSpc>
              <a:spcBef>
                <a:spcPts val="1000"/>
              </a:spcBef>
              <a:spcAft>
                <a:spcPts val="0"/>
              </a:spcAft>
              <a:buClr>
                <a:schemeClr val="dk1"/>
              </a:buClr>
              <a:buSzPts val="2000"/>
              <a:buChar char="•"/>
            </a:pPr>
            <a:endParaRPr dirty="0"/>
          </a:p>
          <a:p>
            <a:pPr marL="228600" lvl="0" indent="-228600" algn="l" rtl="0">
              <a:lnSpc>
                <a:spcPct val="90000"/>
              </a:lnSpc>
              <a:spcBef>
                <a:spcPts val="1000"/>
              </a:spcBef>
              <a:spcAft>
                <a:spcPts val="0"/>
              </a:spcAft>
              <a:buClr>
                <a:schemeClr val="dk1"/>
              </a:buClr>
              <a:buSzPts val="2000"/>
              <a:buChar char="•"/>
            </a:pPr>
            <a:r>
              <a:rPr lang="en-US" sz="2000" dirty="0"/>
              <a:t>…</a:t>
            </a:r>
            <a:endParaRPr dirty="0"/>
          </a:p>
        </p:txBody>
      </p:sp>
      <p:grpSp>
        <p:nvGrpSpPr>
          <p:cNvPr id="259" name="Google Shape;259;p14">
            <a:extLst>
              <a:ext uri="{FF2B5EF4-FFF2-40B4-BE49-F238E27FC236}">
                <a16:creationId xmlns:a16="http://schemas.microsoft.com/office/drawing/2014/main" id="{5E66F300-F71C-D192-5BCB-DE9D464133B3}"/>
              </a:ext>
            </a:extLst>
          </p:cNvPr>
          <p:cNvGrpSpPr/>
          <p:nvPr/>
        </p:nvGrpSpPr>
        <p:grpSpPr>
          <a:xfrm>
            <a:off x="11219290" y="1"/>
            <a:ext cx="972709" cy="1935307"/>
            <a:chOff x="10918968" y="713127"/>
            <a:chExt cx="1273032" cy="2532832"/>
          </a:xfrm>
        </p:grpSpPr>
        <p:sp>
          <p:nvSpPr>
            <p:cNvPr id="260" name="Google Shape;260;p14">
              <a:extLst>
                <a:ext uri="{FF2B5EF4-FFF2-40B4-BE49-F238E27FC236}">
                  <a16:creationId xmlns:a16="http://schemas.microsoft.com/office/drawing/2014/main" id="{F7C2DEB2-1E93-F5F6-E52E-33066059C870}"/>
                </a:ext>
              </a:extLst>
            </p:cNvPr>
            <p:cNvSpPr/>
            <p:nvPr/>
          </p:nvSpPr>
          <p:spPr>
            <a:xfrm rot="2700000">
              <a:off x="11052629" y="2120024"/>
              <a:ext cx="645368" cy="645368"/>
            </a:xfrm>
            <a:prstGeom prst="rect">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1" name="Google Shape;261;p14">
              <a:extLst>
                <a:ext uri="{FF2B5EF4-FFF2-40B4-BE49-F238E27FC236}">
                  <a16:creationId xmlns:a16="http://schemas.microsoft.com/office/drawing/2014/main" id="{F88B5B50-0522-F159-308D-C887E8D562A1}"/>
                </a:ext>
              </a:extLst>
            </p:cNvPr>
            <p:cNvSpPr/>
            <p:nvPr/>
          </p:nvSpPr>
          <p:spPr>
            <a:xfrm rot="-5400000">
              <a:off x="10289068" y="1343027"/>
              <a:ext cx="2532832" cy="1273032"/>
            </a:xfrm>
            <a:prstGeom prst="triangle">
              <a:avLst>
                <a:gd name="adj" fmla="val 50000"/>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262" name="Google Shape;262;p14">
            <a:extLst>
              <a:ext uri="{FF2B5EF4-FFF2-40B4-BE49-F238E27FC236}">
                <a16:creationId xmlns:a16="http://schemas.microsoft.com/office/drawing/2014/main" id="{D7F7F4E3-94C3-81CD-C9FB-47B39D136C0A}"/>
              </a:ext>
            </a:extLst>
          </p:cNvPr>
          <p:cNvGrpSpPr/>
          <p:nvPr/>
        </p:nvGrpSpPr>
        <p:grpSpPr>
          <a:xfrm>
            <a:off x="0" y="4601497"/>
            <a:ext cx="1014060" cy="2017580"/>
            <a:chOff x="0" y="4601497"/>
            <a:chExt cx="1014060" cy="2017580"/>
          </a:xfrm>
        </p:grpSpPr>
        <p:sp>
          <p:nvSpPr>
            <p:cNvPr id="263" name="Google Shape;263;p14">
              <a:extLst>
                <a:ext uri="{FF2B5EF4-FFF2-40B4-BE49-F238E27FC236}">
                  <a16:creationId xmlns:a16="http://schemas.microsoft.com/office/drawing/2014/main" id="{7B7CC121-6B9A-829B-80D4-EC13471CF924}"/>
                </a:ext>
              </a:extLst>
            </p:cNvPr>
            <p:cNvSpPr/>
            <p:nvPr/>
          </p:nvSpPr>
          <p:spPr>
            <a:xfrm rot="5400000">
              <a:off x="-501760" y="5103257"/>
              <a:ext cx="2017580" cy="1014060"/>
            </a:xfrm>
            <a:prstGeom prst="triangle">
              <a:avLst>
                <a:gd name="adj" fmla="val 50000"/>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p14">
              <a:extLst>
                <a:ext uri="{FF2B5EF4-FFF2-40B4-BE49-F238E27FC236}">
                  <a16:creationId xmlns:a16="http://schemas.microsoft.com/office/drawing/2014/main" id="{8345D048-0520-9EB6-D522-3A3ECC9B39C9}"/>
                </a:ext>
              </a:extLst>
            </p:cNvPr>
            <p:cNvSpPr/>
            <p:nvPr/>
          </p:nvSpPr>
          <p:spPr>
            <a:xfrm rot="2700000">
              <a:off x="427916" y="5728708"/>
              <a:ext cx="485578" cy="485578"/>
            </a:xfrm>
            <a:prstGeom prst="rect">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 name="Kuva 2" descr="Kuva, joka sisältää kohteen teksti, diagrammi, Suorakaide, kuvakaappaus&#10;&#10;Tekoälyllä luotu sisältö voi olla virheellistä.">
            <a:extLst>
              <a:ext uri="{FF2B5EF4-FFF2-40B4-BE49-F238E27FC236}">
                <a16:creationId xmlns:a16="http://schemas.microsoft.com/office/drawing/2014/main" id="{A3D9DD26-9BBB-735F-E239-980821F69F8E}"/>
              </a:ext>
            </a:extLst>
          </p:cNvPr>
          <p:cNvPicPr>
            <a:picLocks noChangeAspect="1"/>
          </p:cNvPicPr>
          <p:nvPr/>
        </p:nvPicPr>
        <p:blipFill>
          <a:blip r:embed="rId3"/>
          <a:stretch>
            <a:fillRect/>
          </a:stretch>
        </p:blipFill>
        <p:spPr>
          <a:xfrm>
            <a:off x="5295320" y="1321553"/>
            <a:ext cx="6157314" cy="4985014"/>
          </a:xfrm>
          <a:prstGeom prst="rect">
            <a:avLst/>
          </a:prstGeom>
        </p:spPr>
      </p:pic>
      <p:pic>
        <p:nvPicPr>
          <p:cNvPr id="6" name="Kuva 5">
            <a:extLst>
              <a:ext uri="{FF2B5EF4-FFF2-40B4-BE49-F238E27FC236}">
                <a16:creationId xmlns:a16="http://schemas.microsoft.com/office/drawing/2014/main" id="{B571CA4C-D3C9-5B2D-361B-D0E612E806E0}"/>
              </a:ext>
            </a:extLst>
          </p:cNvPr>
          <p:cNvPicPr>
            <a:picLocks noChangeAspect="1"/>
          </p:cNvPicPr>
          <p:nvPr/>
        </p:nvPicPr>
        <p:blipFill>
          <a:blip r:embed="rId4"/>
          <a:stretch>
            <a:fillRect/>
          </a:stretch>
        </p:blipFill>
        <p:spPr>
          <a:xfrm>
            <a:off x="114325" y="4605821"/>
            <a:ext cx="5077534" cy="1810003"/>
          </a:xfrm>
          <a:prstGeom prst="rect">
            <a:avLst/>
          </a:prstGeom>
        </p:spPr>
      </p:pic>
      <p:sp>
        <p:nvSpPr>
          <p:cNvPr id="4" name="TextBox 3">
            <a:extLst>
              <a:ext uri="{FF2B5EF4-FFF2-40B4-BE49-F238E27FC236}">
                <a16:creationId xmlns:a16="http://schemas.microsoft.com/office/drawing/2014/main" id="{8C0E76C0-F736-4005-8478-C456F87512E9}"/>
              </a:ext>
            </a:extLst>
          </p:cNvPr>
          <p:cNvSpPr txBox="1"/>
          <p:nvPr/>
        </p:nvSpPr>
        <p:spPr>
          <a:xfrm>
            <a:off x="10471097" y="318304"/>
            <a:ext cx="138363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Aki </a:t>
            </a:r>
            <a:r>
              <a:rPr lang="en-US" dirty="0" err="1"/>
              <a:t>Sartolahti</a:t>
            </a:r>
          </a:p>
        </p:txBody>
      </p:sp>
    </p:spTree>
    <p:extLst>
      <p:ext uri="{BB962C8B-B14F-4D97-AF65-F5344CB8AC3E}">
        <p14:creationId xmlns:p14="http://schemas.microsoft.com/office/powerpoint/2010/main" val="36365297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2C5CF23A-89B1-9C03-ACEF-E9DDDCA73173}"/>
            </a:ext>
          </a:extLst>
        </p:cNvPr>
        <p:cNvGrpSpPr/>
        <p:nvPr/>
      </p:nvGrpSpPr>
      <p:grpSpPr>
        <a:xfrm>
          <a:off x="0" y="0"/>
          <a:ext cx="0" cy="0"/>
          <a:chOff x="0" y="0"/>
          <a:chExt cx="0" cy="0"/>
        </a:xfrm>
      </p:grpSpPr>
      <p:sp>
        <p:nvSpPr>
          <p:cNvPr id="126" name="Google Shape;126;p6">
            <a:extLst>
              <a:ext uri="{FF2B5EF4-FFF2-40B4-BE49-F238E27FC236}">
                <a16:creationId xmlns:a16="http://schemas.microsoft.com/office/drawing/2014/main" id="{D01F2A64-4060-DCB9-54F5-11A0ECEDB42A}"/>
              </a:ext>
            </a:extLst>
          </p:cNvPr>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127" name="Google Shape;127;p6">
            <a:extLst>
              <a:ext uri="{FF2B5EF4-FFF2-40B4-BE49-F238E27FC236}">
                <a16:creationId xmlns:a16="http://schemas.microsoft.com/office/drawing/2014/main" id="{7608FB78-9ECE-DB0F-CB98-00784392B732}"/>
              </a:ext>
            </a:extLst>
          </p:cNvPr>
          <p:cNvSpPr txBox="1">
            <a:spLocks noGrp="1"/>
          </p:cNvSpPr>
          <p:nvPr>
            <p:ph type="title"/>
          </p:nvPr>
        </p:nvSpPr>
        <p:spPr>
          <a:xfrm>
            <a:off x="643467" y="321734"/>
            <a:ext cx="11198466" cy="1135737"/>
          </a:xfrm>
          <a:prstGeom prst="rect">
            <a:avLst/>
          </a:prstGeom>
          <a:noFill/>
          <a:ln>
            <a:noFill/>
          </a:ln>
        </p:spPr>
        <p:txBody>
          <a:bodyPr spcFirstLastPara="1" wrap="square" lIns="91425" tIns="45700" rIns="91425" bIns="45700" anchor="ctr" anchorCtr="0">
            <a:normAutofit/>
          </a:bodyPr>
          <a:lstStyle/>
          <a:p>
            <a:pPr>
              <a:lnSpc>
                <a:spcPct val="90000"/>
              </a:lnSpc>
              <a:spcBef>
                <a:spcPts val="0"/>
              </a:spcBef>
              <a:buClr>
                <a:schemeClr val="dk1"/>
              </a:buClr>
              <a:buSzPts val="3600"/>
            </a:pPr>
            <a:r>
              <a:rPr lang="en-US" sz="3600" dirty="0"/>
              <a:t>Management Satisfaction, years of service &amp; marriage status</a:t>
            </a:r>
            <a:endParaRPr sz="3600" dirty="0"/>
          </a:p>
        </p:txBody>
      </p:sp>
      <p:sp>
        <p:nvSpPr>
          <p:cNvPr id="128" name="Google Shape;128;p6">
            <a:extLst>
              <a:ext uri="{FF2B5EF4-FFF2-40B4-BE49-F238E27FC236}">
                <a16:creationId xmlns:a16="http://schemas.microsoft.com/office/drawing/2014/main" id="{31E63A6C-D067-9D81-50BC-C1A40124DD87}"/>
              </a:ext>
            </a:extLst>
          </p:cNvPr>
          <p:cNvSpPr txBox="1">
            <a:spLocks noGrp="1"/>
          </p:cNvSpPr>
          <p:nvPr>
            <p:ph type="body" idx="1"/>
          </p:nvPr>
        </p:nvSpPr>
        <p:spPr>
          <a:xfrm>
            <a:off x="643469" y="1782981"/>
            <a:ext cx="4008384" cy="4393982"/>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000"/>
            </a:pPr>
            <a:r>
              <a:rPr lang="en-US" sz="2000" dirty="0"/>
              <a:t>This </a:t>
            </a:r>
            <a:r>
              <a:rPr lang="fi-FI" sz="2000" dirty="0" err="1"/>
              <a:t>categorical</a:t>
            </a:r>
            <a:r>
              <a:rPr lang="fi-FI" sz="2000" dirty="0"/>
              <a:t> </a:t>
            </a:r>
            <a:r>
              <a:rPr lang="fi-FI" sz="2000" dirty="0" err="1"/>
              <a:t>plot</a:t>
            </a:r>
            <a:r>
              <a:rPr lang="fi-FI" sz="2000" dirty="0"/>
              <a:t> </a:t>
            </a:r>
            <a:r>
              <a:rPr lang="en-US" sz="2000" dirty="0"/>
              <a:t>shows the relationship between the workers satisfaction with management, their years of service, and their relationship status.</a:t>
            </a:r>
          </a:p>
        </p:txBody>
      </p:sp>
      <p:grpSp>
        <p:nvGrpSpPr>
          <p:cNvPr id="129" name="Google Shape;129;p6">
            <a:extLst>
              <a:ext uri="{FF2B5EF4-FFF2-40B4-BE49-F238E27FC236}">
                <a16:creationId xmlns:a16="http://schemas.microsoft.com/office/drawing/2014/main" id="{7C8F89E1-5418-1AA2-5CC0-EED40D75D040}"/>
              </a:ext>
            </a:extLst>
          </p:cNvPr>
          <p:cNvGrpSpPr/>
          <p:nvPr/>
        </p:nvGrpSpPr>
        <p:grpSpPr>
          <a:xfrm>
            <a:off x="0" y="4601497"/>
            <a:ext cx="1014060" cy="2017580"/>
            <a:chOff x="0" y="4601497"/>
            <a:chExt cx="1014060" cy="2017580"/>
          </a:xfrm>
        </p:grpSpPr>
        <p:sp>
          <p:nvSpPr>
            <p:cNvPr id="130" name="Google Shape;130;p6">
              <a:extLst>
                <a:ext uri="{FF2B5EF4-FFF2-40B4-BE49-F238E27FC236}">
                  <a16:creationId xmlns:a16="http://schemas.microsoft.com/office/drawing/2014/main" id="{E3268E9F-F5E7-69D1-56FE-D91B44744BBF}"/>
                </a:ext>
              </a:extLst>
            </p:cNvPr>
            <p:cNvSpPr/>
            <p:nvPr/>
          </p:nvSpPr>
          <p:spPr>
            <a:xfrm rot="5400000">
              <a:off x="-501760" y="5103257"/>
              <a:ext cx="2017580" cy="1014060"/>
            </a:xfrm>
            <a:prstGeom prst="triangle">
              <a:avLst>
                <a:gd name="adj" fmla="val 50000"/>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1" name="Google Shape;131;p6">
              <a:extLst>
                <a:ext uri="{FF2B5EF4-FFF2-40B4-BE49-F238E27FC236}">
                  <a16:creationId xmlns:a16="http://schemas.microsoft.com/office/drawing/2014/main" id="{F0FD78EC-5C38-A64E-0924-0739E7085E1E}"/>
                </a:ext>
              </a:extLst>
            </p:cNvPr>
            <p:cNvSpPr/>
            <p:nvPr/>
          </p:nvSpPr>
          <p:spPr>
            <a:xfrm rot="2700000">
              <a:off x="427916" y="5728708"/>
              <a:ext cx="485578" cy="485578"/>
            </a:xfrm>
            <a:prstGeom prst="rect">
              <a:avLst/>
            </a:prstGeom>
            <a:solidFill>
              <a:schemeClr val="accent1">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133" name="Google Shape;133;p6">
            <a:extLst>
              <a:ext uri="{FF2B5EF4-FFF2-40B4-BE49-F238E27FC236}">
                <a16:creationId xmlns:a16="http://schemas.microsoft.com/office/drawing/2014/main" id="{7C381A06-BDFC-4764-BE33-F852F1BEF469}"/>
              </a:ext>
            </a:extLst>
          </p:cNvPr>
          <p:cNvGrpSpPr/>
          <p:nvPr/>
        </p:nvGrpSpPr>
        <p:grpSpPr>
          <a:xfrm>
            <a:off x="11219290" y="1"/>
            <a:ext cx="972709" cy="1935307"/>
            <a:chOff x="10918968" y="713127"/>
            <a:chExt cx="1273032" cy="2532832"/>
          </a:xfrm>
        </p:grpSpPr>
        <p:sp>
          <p:nvSpPr>
            <p:cNvPr id="134" name="Google Shape;134;p6">
              <a:extLst>
                <a:ext uri="{FF2B5EF4-FFF2-40B4-BE49-F238E27FC236}">
                  <a16:creationId xmlns:a16="http://schemas.microsoft.com/office/drawing/2014/main" id="{441D2E5F-BC73-DB92-FF5F-2C3F8CA8580D}"/>
                </a:ext>
              </a:extLst>
            </p:cNvPr>
            <p:cNvSpPr/>
            <p:nvPr/>
          </p:nvSpPr>
          <p:spPr>
            <a:xfrm rot="2700000">
              <a:off x="11052629" y="2120024"/>
              <a:ext cx="645368" cy="645368"/>
            </a:xfrm>
            <a:prstGeom prst="rect">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5" name="Google Shape;135;p6">
              <a:extLst>
                <a:ext uri="{FF2B5EF4-FFF2-40B4-BE49-F238E27FC236}">
                  <a16:creationId xmlns:a16="http://schemas.microsoft.com/office/drawing/2014/main" id="{883C63CD-C9B7-9573-FF1E-473973BC4148}"/>
                </a:ext>
              </a:extLst>
            </p:cNvPr>
            <p:cNvSpPr/>
            <p:nvPr/>
          </p:nvSpPr>
          <p:spPr>
            <a:xfrm rot="-5400000">
              <a:off x="10289068" y="1343027"/>
              <a:ext cx="2532832" cy="1273032"/>
            </a:xfrm>
            <a:prstGeom prst="triangle">
              <a:avLst>
                <a:gd name="adj" fmla="val 50000"/>
              </a:avLst>
            </a:prstGeom>
            <a:solidFill>
              <a:schemeClr val="accent4">
                <a:alpha val="2901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3" name="Kuva 2">
            <a:extLst>
              <a:ext uri="{FF2B5EF4-FFF2-40B4-BE49-F238E27FC236}">
                <a16:creationId xmlns:a16="http://schemas.microsoft.com/office/drawing/2014/main" id="{18EB47FF-05E1-FE22-5B68-36F59E52986E}"/>
              </a:ext>
            </a:extLst>
          </p:cNvPr>
          <p:cNvPicPr>
            <a:picLocks noChangeAspect="1"/>
          </p:cNvPicPr>
          <p:nvPr/>
        </p:nvPicPr>
        <p:blipFill>
          <a:blip r:embed="rId3"/>
          <a:stretch>
            <a:fillRect/>
          </a:stretch>
        </p:blipFill>
        <p:spPr>
          <a:xfrm>
            <a:off x="5665005" y="1457471"/>
            <a:ext cx="6199646" cy="5027574"/>
          </a:xfrm>
          <a:prstGeom prst="rect">
            <a:avLst/>
          </a:prstGeom>
        </p:spPr>
      </p:pic>
      <p:sp>
        <p:nvSpPr>
          <p:cNvPr id="4" name="TextBox 3">
            <a:extLst>
              <a:ext uri="{FF2B5EF4-FFF2-40B4-BE49-F238E27FC236}">
                <a16:creationId xmlns:a16="http://schemas.microsoft.com/office/drawing/2014/main" id="{FB9680BC-C903-D940-4707-B9666AA72139}"/>
              </a:ext>
            </a:extLst>
          </p:cNvPr>
          <p:cNvSpPr txBox="1"/>
          <p:nvPr/>
        </p:nvSpPr>
        <p:spPr>
          <a:xfrm>
            <a:off x="10713780" y="161366"/>
            <a:ext cx="138363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Aki </a:t>
            </a:r>
            <a:r>
              <a:rPr lang="en-US" dirty="0" err="1"/>
              <a:t>Sartolahti</a:t>
            </a:r>
          </a:p>
        </p:txBody>
      </p:sp>
    </p:spTree>
    <p:extLst>
      <p:ext uri="{BB962C8B-B14F-4D97-AF65-F5344CB8AC3E}">
        <p14:creationId xmlns:p14="http://schemas.microsoft.com/office/powerpoint/2010/main" val="3524106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7C8EC-0D5C-D4B4-3ED9-44524061DB38}"/>
              </a:ext>
            </a:extLst>
          </p:cNvPr>
          <p:cNvSpPr>
            <a:spLocks noGrp="1"/>
          </p:cNvSpPr>
          <p:nvPr>
            <p:ph type="title"/>
          </p:nvPr>
        </p:nvSpPr>
        <p:spPr>
          <a:xfrm>
            <a:off x="914400" y="1371601"/>
            <a:ext cx="10363200" cy="1187570"/>
          </a:xfrm>
        </p:spPr>
        <p:txBody>
          <a:bodyPr anchor="t">
            <a:normAutofit fontScale="90000"/>
          </a:bodyPr>
          <a:lstStyle/>
          <a:p>
            <a:r>
              <a:rPr lang="en-US" sz="3700" dirty="0"/>
              <a:t>Analyzing Salary Satisfactory and Education Level</a:t>
            </a:r>
          </a:p>
        </p:txBody>
      </p:sp>
      <p:sp>
        <p:nvSpPr>
          <p:cNvPr id="12" name="Content Placeholder 2">
            <a:extLst>
              <a:ext uri="{FF2B5EF4-FFF2-40B4-BE49-F238E27FC236}">
                <a16:creationId xmlns:a16="http://schemas.microsoft.com/office/drawing/2014/main" id="{94EA149F-3FB3-0A1B-CA3A-5C5EB65DF5DA}"/>
              </a:ext>
            </a:extLst>
          </p:cNvPr>
          <p:cNvSpPr>
            <a:spLocks noGrp="1"/>
          </p:cNvSpPr>
          <p:nvPr>
            <p:ph sz="half" idx="1"/>
          </p:nvPr>
        </p:nvSpPr>
        <p:spPr>
          <a:xfrm>
            <a:off x="914400" y="2849526"/>
            <a:ext cx="5105400" cy="3210479"/>
          </a:xfrm>
        </p:spPr>
        <p:txBody>
          <a:bodyPr vert="horz" lIns="91440" tIns="45720" rIns="91440" bIns="45720" rtlCol="0" anchor="t">
            <a:normAutofit/>
          </a:bodyPr>
          <a:lstStyle/>
          <a:p>
            <a:r>
              <a:rPr lang="en-US" dirty="0">
                <a:latin typeface="Arial"/>
                <a:cs typeface="Arial"/>
              </a:rPr>
              <a:t>Based on this diagram employees with higher education level are more happy</a:t>
            </a:r>
          </a:p>
          <a:p>
            <a:r>
              <a:rPr lang="en-US" dirty="0">
                <a:latin typeface="Arial"/>
                <a:cs typeface="Arial"/>
              </a:rPr>
              <a:t>We can also see that there are employees with 3 education level the most inside this company</a:t>
            </a:r>
          </a:p>
        </p:txBody>
      </p:sp>
      <p:pic>
        <p:nvPicPr>
          <p:cNvPr id="7" name="Content Placeholder 6">
            <a:extLst>
              <a:ext uri="{FF2B5EF4-FFF2-40B4-BE49-F238E27FC236}">
                <a16:creationId xmlns:a16="http://schemas.microsoft.com/office/drawing/2014/main" id="{C276FDC8-361D-6958-C36E-9A30350D40C3}"/>
              </a:ext>
            </a:extLst>
          </p:cNvPr>
          <p:cNvPicPr>
            <a:picLocks noGrp="1" noChangeAspect="1"/>
          </p:cNvPicPr>
          <p:nvPr>
            <p:ph sz="half" idx="2"/>
          </p:nvPr>
        </p:nvPicPr>
        <p:blipFill>
          <a:blip r:embed="rId2"/>
          <a:stretch>
            <a:fillRect/>
          </a:stretch>
        </p:blipFill>
        <p:spPr>
          <a:xfrm>
            <a:off x="6601082" y="2254794"/>
            <a:ext cx="4851661" cy="3805211"/>
          </a:xfrm>
          <a:prstGeom prst="rect">
            <a:avLst/>
          </a:prstGeom>
          <a:noFill/>
        </p:spPr>
      </p:pic>
      <p:sp>
        <p:nvSpPr>
          <p:cNvPr id="4" name="Date Placeholder 3">
            <a:extLst>
              <a:ext uri="{FF2B5EF4-FFF2-40B4-BE49-F238E27FC236}">
                <a16:creationId xmlns:a16="http://schemas.microsoft.com/office/drawing/2014/main" id="{FDCEE274-E58E-B67E-4621-20D9E01F8284}"/>
              </a:ext>
            </a:extLst>
          </p:cNvPr>
          <p:cNvSpPr>
            <a:spLocks noGrp="1"/>
          </p:cNvSpPr>
          <p:nvPr>
            <p:ph type="dt" sz="half" idx="10"/>
          </p:nvPr>
        </p:nvSpPr>
        <p:spPr>
          <a:xfrm>
            <a:off x="912628" y="6356350"/>
            <a:ext cx="2743200" cy="365125"/>
          </a:xfrm>
        </p:spPr>
        <p:txBody>
          <a:bodyPr anchor="ctr">
            <a:normAutofit/>
          </a:bodyPr>
          <a:lstStyle/>
          <a:p>
            <a:pPr>
              <a:spcAft>
                <a:spcPts val="600"/>
              </a:spcAft>
            </a:pPr>
            <a:fld id="{8A401BE0-B980-4116-9C1C-657018DE2D6E}" type="datetime1">
              <a:pPr>
                <a:spcAft>
                  <a:spcPts val="600"/>
                </a:spcAft>
              </a:pPr>
              <a:t>25.10.2025</a:t>
            </a:fld>
            <a:endParaRPr lang="en-US"/>
          </a:p>
        </p:txBody>
      </p:sp>
      <p:sp>
        <p:nvSpPr>
          <p:cNvPr id="5" name="Footer Placeholder 4">
            <a:extLst>
              <a:ext uri="{FF2B5EF4-FFF2-40B4-BE49-F238E27FC236}">
                <a16:creationId xmlns:a16="http://schemas.microsoft.com/office/drawing/2014/main" id="{FE8FD006-33C8-46BE-C3CD-88570BF8802D}"/>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6" name="Slide Number Placeholder 5">
            <a:extLst>
              <a:ext uri="{FF2B5EF4-FFF2-40B4-BE49-F238E27FC236}">
                <a16:creationId xmlns:a16="http://schemas.microsoft.com/office/drawing/2014/main" id="{B477530B-171B-2E14-72E1-40E15EC68D47}"/>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29</a:t>
            </a:fld>
            <a:endParaRPr lang="en-US"/>
          </a:p>
        </p:txBody>
      </p:sp>
      <p:sp>
        <p:nvSpPr>
          <p:cNvPr id="8" name="TextBox 7">
            <a:extLst>
              <a:ext uri="{FF2B5EF4-FFF2-40B4-BE49-F238E27FC236}">
                <a16:creationId xmlns:a16="http://schemas.microsoft.com/office/drawing/2014/main" id="{4D1E12FC-06FF-6F8E-8CAD-860386293A8A}"/>
              </a:ext>
            </a:extLst>
          </p:cNvPr>
          <p:cNvSpPr txBox="1"/>
          <p:nvPr/>
        </p:nvSpPr>
        <p:spPr>
          <a:xfrm>
            <a:off x="10088260" y="413091"/>
            <a:ext cx="120445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Sami Id</a:t>
            </a:r>
          </a:p>
        </p:txBody>
      </p:sp>
      <p:pic>
        <p:nvPicPr>
          <p:cNvPr id="3" name="Picture 2" descr="A screenshot of a black and white screen&#10;&#10;AI-generated content may be incorrect.">
            <a:extLst>
              <a:ext uri="{FF2B5EF4-FFF2-40B4-BE49-F238E27FC236}">
                <a16:creationId xmlns:a16="http://schemas.microsoft.com/office/drawing/2014/main" id="{961A4297-7679-6E79-7DEE-06ED35C889F1}"/>
              </a:ext>
            </a:extLst>
          </p:cNvPr>
          <p:cNvPicPr>
            <a:picLocks noChangeAspect="1"/>
          </p:cNvPicPr>
          <p:nvPr/>
        </p:nvPicPr>
        <p:blipFill>
          <a:blip r:embed="rId3"/>
          <a:stretch>
            <a:fillRect/>
          </a:stretch>
        </p:blipFill>
        <p:spPr>
          <a:xfrm>
            <a:off x="4172647" y="4744728"/>
            <a:ext cx="2266950" cy="1457325"/>
          </a:xfrm>
          <a:prstGeom prst="rect">
            <a:avLst/>
          </a:prstGeom>
        </p:spPr>
      </p:pic>
    </p:spTree>
    <p:extLst>
      <p:ext uri="{BB962C8B-B14F-4D97-AF65-F5344CB8AC3E}">
        <p14:creationId xmlns:p14="http://schemas.microsoft.com/office/powerpoint/2010/main" val="1110079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502D1F9-2014-DE85-4C55-93B459C85B98}"/>
              </a:ext>
            </a:extLst>
          </p:cNvPr>
          <p:cNvSpPr>
            <a:spLocks noGrp="1"/>
          </p:cNvSpPr>
          <p:nvPr>
            <p:ph type="title"/>
          </p:nvPr>
        </p:nvSpPr>
        <p:spPr>
          <a:xfrm>
            <a:off x="912628" y="1463038"/>
            <a:ext cx="10615176" cy="1462256"/>
          </a:xfrm>
        </p:spPr>
        <p:txBody>
          <a:bodyPr>
            <a:normAutofit/>
          </a:bodyPr>
          <a:lstStyle/>
          <a:p>
            <a:r>
              <a:rPr lang="en-US" sz="3300" dirty="0"/>
              <a:t>Analyzing Salary Distribution and Education Level</a:t>
            </a:r>
          </a:p>
          <a:p>
            <a:endParaRPr lang="en-US" dirty="0"/>
          </a:p>
        </p:txBody>
      </p:sp>
      <p:pic>
        <p:nvPicPr>
          <p:cNvPr id="8" name="Content Placeholder 7" descr="A graph of a salary distribution&#10;&#10;AI-generated content may be incorrect.">
            <a:extLst>
              <a:ext uri="{FF2B5EF4-FFF2-40B4-BE49-F238E27FC236}">
                <a16:creationId xmlns:a16="http://schemas.microsoft.com/office/drawing/2014/main" id="{B55131EC-8691-DED2-EFAF-26037E626234}"/>
              </a:ext>
            </a:extLst>
          </p:cNvPr>
          <p:cNvPicPr>
            <a:picLocks noGrp="1" noChangeAspect="1"/>
          </p:cNvPicPr>
          <p:nvPr>
            <p:ph idx="1"/>
          </p:nvPr>
        </p:nvPicPr>
        <p:blipFill>
          <a:blip r:embed="rId2"/>
          <a:stretch>
            <a:fillRect/>
          </a:stretch>
        </p:blipFill>
        <p:spPr>
          <a:xfrm>
            <a:off x="6158920" y="2195673"/>
            <a:ext cx="5010615" cy="3897494"/>
          </a:xfrm>
          <a:prstGeom prst="rect">
            <a:avLst/>
          </a:prstGeom>
          <a:noFill/>
        </p:spPr>
      </p:pic>
      <p:sp>
        <p:nvSpPr>
          <p:cNvPr id="15" name="Text Placeholder 3">
            <a:extLst>
              <a:ext uri="{FF2B5EF4-FFF2-40B4-BE49-F238E27FC236}">
                <a16:creationId xmlns:a16="http://schemas.microsoft.com/office/drawing/2014/main" id="{2A7742FB-09CC-7955-CF8F-ED1B8DB8AE09}"/>
              </a:ext>
            </a:extLst>
          </p:cNvPr>
          <p:cNvSpPr>
            <a:spLocks noGrp="1"/>
          </p:cNvSpPr>
          <p:nvPr>
            <p:ph type="body" sz="half" idx="2"/>
          </p:nvPr>
        </p:nvSpPr>
        <p:spPr>
          <a:xfrm>
            <a:off x="912628" y="2349147"/>
            <a:ext cx="3859397" cy="2934401"/>
          </a:xfrm>
        </p:spPr>
        <p:txBody>
          <a:bodyPr vert="horz" lIns="91440" tIns="45720" rIns="91440" bIns="45720" rtlCol="0" anchor="t">
            <a:normAutofit/>
          </a:bodyPr>
          <a:lstStyle/>
          <a:p>
            <a:pPr marL="285750" indent="-285750">
              <a:buChar char="•"/>
            </a:pPr>
            <a:r>
              <a:rPr lang="en-US" dirty="0">
                <a:latin typeface="Arial"/>
                <a:cs typeface="Arial"/>
              </a:rPr>
              <a:t>Based on this diagram </a:t>
            </a:r>
            <a:r>
              <a:rPr lang="en-US" err="1">
                <a:latin typeface="Arial"/>
                <a:cs typeface="Arial"/>
              </a:rPr>
              <a:t>employess</a:t>
            </a:r>
            <a:r>
              <a:rPr lang="en-US" dirty="0">
                <a:latin typeface="Arial"/>
                <a:cs typeface="Arial"/>
              </a:rPr>
              <a:t> with level 4 education are earning much more than the rest</a:t>
            </a:r>
          </a:p>
          <a:p>
            <a:pPr marL="285750" indent="-285750">
              <a:buChar char="•"/>
            </a:pPr>
            <a:r>
              <a:rPr lang="en-US" dirty="0">
                <a:latin typeface="Arial"/>
                <a:cs typeface="Arial"/>
              </a:rPr>
              <a:t>There are about as much employees with level 2 education as level 3 education, and level 3 employees have a slightly higher salary</a:t>
            </a:r>
          </a:p>
        </p:txBody>
      </p:sp>
      <p:sp>
        <p:nvSpPr>
          <p:cNvPr id="5" name="Date Placeholder 4">
            <a:extLst>
              <a:ext uri="{FF2B5EF4-FFF2-40B4-BE49-F238E27FC236}">
                <a16:creationId xmlns:a16="http://schemas.microsoft.com/office/drawing/2014/main" id="{F3ED53B0-D84F-DC76-3F8F-6E5669D31DC6}"/>
              </a:ext>
            </a:extLst>
          </p:cNvPr>
          <p:cNvSpPr>
            <a:spLocks noGrp="1"/>
          </p:cNvSpPr>
          <p:nvPr>
            <p:ph type="dt" sz="half" idx="10"/>
          </p:nvPr>
        </p:nvSpPr>
        <p:spPr>
          <a:xfrm>
            <a:off x="912628" y="6356350"/>
            <a:ext cx="2743200" cy="365125"/>
          </a:xfrm>
        </p:spPr>
        <p:txBody>
          <a:bodyPr anchor="ctr">
            <a:normAutofit/>
          </a:bodyPr>
          <a:lstStyle/>
          <a:p>
            <a:pPr>
              <a:spcAft>
                <a:spcPts val="600"/>
              </a:spcAft>
            </a:pPr>
            <a:fld id="{3A08D1AC-E831-4EB1-B880-86B12DA2E9E3}" type="datetime1">
              <a:pPr>
                <a:spcAft>
                  <a:spcPts val="600"/>
                </a:spcAft>
              </a:pPr>
              <a:t>25.10.2025</a:t>
            </a:fld>
            <a:endParaRPr lang="en-US"/>
          </a:p>
        </p:txBody>
      </p:sp>
      <p:sp>
        <p:nvSpPr>
          <p:cNvPr id="6" name="Footer Placeholder 5">
            <a:extLst>
              <a:ext uri="{FF2B5EF4-FFF2-40B4-BE49-F238E27FC236}">
                <a16:creationId xmlns:a16="http://schemas.microsoft.com/office/drawing/2014/main" id="{428EC99F-027A-8F7C-7ACC-167616E73552}"/>
              </a:ext>
            </a:extLst>
          </p:cNvPr>
          <p:cNvSpPr>
            <a:spLocks noGrp="1"/>
          </p:cNvSpPr>
          <p:nvPr>
            <p:ph type="ftr" sz="quarter" idx="11"/>
          </p:nvPr>
        </p:nvSpPr>
        <p:spPr>
          <a:xfrm>
            <a:off x="6767622" y="6356350"/>
            <a:ext cx="4040373" cy="365125"/>
          </a:xfrm>
        </p:spPr>
        <p:txBody>
          <a:bodyPr anchor="ctr">
            <a:normAutofit/>
          </a:bodyPr>
          <a:lstStyle/>
          <a:p>
            <a:pPr>
              <a:lnSpc>
                <a:spcPct val="90000"/>
              </a:lnSpc>
              <a:spcAft>
                <a:spcPts val="600"/>
              </a:spcAft>
            </a:pPr>
            <a:r>
              <a:rPr lang="en-US" sz="700"/>
              <a:t>
              </a:t>
            </a:r>
          </a:p>
        </p:txBody>
      </p:sp>
      <p:sp>
        <p:nvSpPr>
          <p:cNvPr id="7" name="Slide Number Placeholder 6">
            <a:extLst>
              <a:ext uri="{FF2B5EF4-FFF2-40B4-BE49-F238E27FC236}">
                <a16:creationId xmlns:a16="http://schemas.microsoft.com/office/drawing/2014/main" id="{D73B0F94-5B61-115F-1CD7-AAFEEA10324D}"/>
              </a:ext>
            </a:extLst>
          </p:cNvPr>
          <p:cNvSpPr>
            <a:spLocks noGrp="1"/>
          </p:cNvSpPr>
          <p:nvPr>
            <p:ph type="sldNum" sz="quarter" idx="12"/>
          </p:nvPr>
        </p:nvSpPr>
        <p:spPr>
          <a:xfrm>
            <a:off x="10807995" y="6356350"/>
            <a:ext cx="723014" cy="365125"/>
          </a:xfrm>
        </p:spPr>
        <p:txBody>
          <a:bodyPr anchor="ctr">
            <a:normAutofit/>
          </a:bodyPr>
          <a:lstStyle/>
          <a:p>
            <a:pPr>
              <a:spcAft>
                <a:spcPts val="600"/>
              </a:spcAft>
            </a:pPr>
            <a:fld id="{70C12960-6E85-460F-B6E3-5B82CB31AF3D}" type="slidenum">
              <a:rPr lang="en-US" dirty="0"/>
              <a:pPr>
                <a:spcAft>
                  <a:spcPts val="600"/>
                </a:spcAft>
              </a:pPr>
              <a:t>30</a:t>
            </a:fld>
            <a:endParaRPr lang="en-US"/>
          </a:p>
        </p:txBody>
      </p:sp>
      <p:sp>
        <p:nvSpPr>
          <p:cNvPr id="9" name="TextBox 8">
            <a:extLst>
              <a:ext uri="{FF2B5EF4-FFF2-40B4-BE49-F238E27FC236}">
                <a16:creationId xmlns:a16="http://schemas.microsoft.com/office/drawing/2014/main" id="{BD4F644D-3EF5-1786-479C-9F9FA868980C}"/>
              </a:ext>
            </a:extLst>
          </p:cNvPr>
          <p:cNvSpPr txBox="1"/>
          <p:nvPr/>
        </p:nvSpPr>
        <p:spPr>
          <a:xfrm>
            <a:off x="10162602" y="424986"/>
            <a:ext cx="1378787" cy="3170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Sami Id</a:t>
            </a:r>
          </a:p>
        </p:txBody>
      </p:sp>
    </p:spTree>
    <p:extLst>
      <p:ext uri="{BB962C8B-B14F-4D97-AF65-F5344CB8AC3E}">
        <p14:creationId xmlns:p14="http://schemas.microsoft.com/office/powerpoint/2010/main" val="32837132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Analyzing dependency between variables gender and education</a:t>
            </a:r>
            <a:endParaRPr/>
          </a:p>
        </p:txBody>
      </p:sp>
      <p:pic>
        <p:nvPicPr>
          <p:cNvPr id="216" name="Google Shape;216;p11"/>
          <p:cNvPicPr preferRelativeResize="0">
            <a:picLocks noGrp="1"/>
          </p:cNvPicPr>
          <p:nvPr>
            <p:ph idx="1"/>
          </p:nvPr>
        </p:nvPicPr>
        <p:blipFill rotWithShape="1">
          <a:blip r:embed="rId3">
            <a:alphaModFix/>
          </a:blip>
          <a:srcRect/>
          <a:stretch/>
        </p:blipFill>
        <p:spPr>
          <a:xfrm>
            <a:off x="1198884" y="3107595"/>
            <a:ext cx="3057525" cy="1638300"/>
          </a:xfrm>
          <a:prstGeom prst="rect">
            <a:avLst/>
          </a:prstGeom>
          <a:noFill/>
          <a:ln>
            <a:noFill/>
          </a:ln>
        </p:spPr>
      </p:pic>
      <p:sp>
        <p:nvSpPr>
          <p:cNvPr id="217" name="Google Shape;217;p11"/>
          <p:cNvSpPr txBox="1"/>
          <p:nvPr/>
        </p:nvSpPr>
        <p:spPr>
          <a:xfrm>
            <a:off x="1120516" y="1698428"/>
            <a:ext cx="10523990" cy="646331"/>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Note! This may not make much sense for the business we are dealing with here. But this is just for an example. Your job is to find meaningful dependencies from the data and report them to your boss/me</a:t>
            </a:r>
            <a:endParaRPr sz="1800" b="0" i="0" u="none" strike="noStrike" cap="none">
              <a:solidFill>
                <a:schemeClr val="dk1"/>
              </a:solidFill>
              <a:latin typeface="Calibri"/>
              <a:ea typeface="Calibri"/>
              <a:cs typeface="Calibri"/>
              <a:sym typeface="Calibri"/>
            </a:endParaRPr>
          </a:p>
        </p:txBody>
      </p:sp>
      <p:pic>
        <p:nvPicPr>
          <p:cNvPr id="218" name="Google Shape;218;p11"/>
          <p:cNvPicPr preferRelativeResize="0"/>
          <p:nvPr/>
        </p:nvPicPr>
        <p:blipFill rotWithShape="1">
          <a:blip r:embed="rId4">
            <a:alphaModFix/>
          </a:blip>
          <a:srcRect/>
          <a:stretch/>
        </p:blipFill>
        <p:spPr>
          <a:xfrm>
            <a:off x="1120517" y="2353418"/>
            <a:ext cx="9915525" cy="733425"/>
          </a:xfrm>
          <a:prstGeom prst="rect">
            <a:avLst/>
          </a:prstGeom>
          <a:noFill/>
          <a:ln>
            <a:noFill/>
          </a:ln>
        </p:spPr>
      </p:pic>
      <p:pic>
        <p:nvPicPr>
          <p:cNvPr id="219" name="Google Shape;219;p11"/>
          <p:cNvPicPr preferRelativeResize="0"/>
          <p:nvPr/>
        </p:nvPicPr>
        <p:blipFill rotWithShape="1">
          <a:blip r:embed="rId5">
            <a:alphaModFix/>
          </a:blip>
          <a:srcRect/>
          <a:stretch/>
        </p:blipFill>
        <p:spPr>
          <a:xfrm>
            <a:off x="1128906" y="4940093"/>
            <a:ext cx="10382250" cy="704850"/>
          </a:xfrm>
          <a:prstGeom prst="rect">
            <a:avLst/>
          </a:prstGeom>
          <a:noFill/>
          <a:ln>
            <a:noFill/>
          </a:ln>
        </p:spPr>
      </p:pic>
      <p:pic>
        <p:nvPicPr>
          <p:cNvPr id="220" name="Google Shape;220;p11"/>
          <p:cNvPicPr preferRelativeResize="0"/>
          <p:nvPr/>
        </p:nvPicPr>
        <p:blipFill rotWithShape="1">
          <a:blip r:embed="rId6">
            <a:alphaModFix/>
          </a:blip>
          <a:srcRect/>
          <a:stretch/>
        </p:blipFill>
        <p:spPr>
          <a:xfrm>
            <a:off x="1198884" y="5616448"/>
            <a:ext cx="7267575" cy="942975"/>
          </a:xfrm>
          <a:prstGeom prst="rect">
            <a:avLst/>
          </a:prstGeom>
          <a:noFill/>
          <a:ln>
            <a:noFill/>
          </a:ln>
        </p:spPr>
      </p:pic>
      <p:sp>
        <p:nvSpPr>
          <p:cNvPr id="221" name="Google Shape;221;p11"/>
          <p:cNvSpPr/>
          <p:nvPr/>
        </p:nvSpPr>
        <p:spPr>
          <a:xfrm>
            <a:off x="1128906" y="2367043"/>
            <a:ext cx="10515600" cy="2466214"/>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2" name="Google Shape;222;p11"/>
          <p:cNvSpPr/>
          <p:nvPr/>
        </p:nvSpPr>
        <p:spPr>
          <a:xfrm>
            <a:off x="1130304" y="4940093"/>
            <a:ext cx="10515600" cy="1689808"/>
          </a:xfrm>
          <a:prstGeom prst="rect">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6"/>
        <p:cNvGrpSpPr/>
        <p:nvPr/>
      </p:nvGrpSpPr>
      <p:grpSpPr>
        <a:xfrm>
          <a:off x="0" y="0"/>
          <a:ext cx="0" cy="0"/>
          <a:chOff x="0" y="0"/>
          <a:chExt cx="0" cy="0"/>
        </a:xfrm>
      </p:grpSpPr>
      <p:sp>
        <p:nvSpPr>
          <p:cNvPr id="227" name="Google Shape;227;p1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8" name="Google Shape;228;p12"/>
          <p:cNvSpPr txBox="1">
            <a:spLocks noGrp="1"/>
          </p:cNvSpPr>
          <p:nvPr>
            <p:ph type="title"/>
          </p:nvPr>
        </p:nvSpPr>
        <p:spPr>
          <a:xfrm>
            <a:off x="643467" y="321734"/>
            <a:ext cx="4970877"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Calibri"/>
              <a:buNone/>
            </a:pPr>
            <a:r>
              <a:rPr lang="en-US" sz="2800"/>
              <a:t>Analyzing dependency between variables gender and education</a:t>
            </a:r>
            <a:endParaRPr sz="2800"/>
          </a:p>
        </p:txBody>
      </p:sp>
      <p:sp>
        <p:nvSpPr>
          <p:cNvPr id="229" name="Google Shape;229;p12"/>
          <p:cNvSpPr txBox="1">
            <a:spLocks noGrp="1"/>
          </p:cNvSpPr>
          <p:nvPr>
            <p:ph idx="1"/>
          </p:nvPr>
        </p:nvSpPr>
        <p:spPr>
          <a:xfrm>
            <a:off x="643468" y="1782981"/>
            <a:ext cx="4970877"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Here we analyze, whether there is dependency between variables gender and education.</a:t>
            </a:r>
            <a:endParaRPr/>
          </a:p>
          <a:p>
            <a:pPr marL="228600" lvl="0" indent="-228600" algn="l" rtl="0">
              <a:lnSpc>
                <a:spcPct val="90000"/>
              </a:lnSpc>
              <a:spcBef>
                <a:spcPts val="1000"/>
              </a:spcBef>
              <a:spcAft>
                <a:spcPts val="0"/>
              </a:spcAft>
              <a:buClr>
                <a:schemeClr val="dk1"/>
              </a:buClr>
              <a:buSzPts val="2000"/>
              <a:buChar char="•"/>
            </a:pPr>
            <a:r>
              <a:rPr lang="en-US" sz="2000"/>
              <a:t>Out of all women, 14.3% of them has their highest education level as primary school. This is bit less than for men. </a:t>
            </a:r>
            <a:endParaRPr/>
          </a:p>
          <a:p>
            <a:pPr marL="228600" lvl="0" indent="-228600" algn="l" rtl="0">
              <a:lnSpc>
                <a:spcPct val="90000"/>
              </a:lnSpc>
              <a:spcBef>
                <a:spcPts val="1000"/>
              </a:spcBef>
              <a:spcAft>
                <a:spcPts val="0"/>
              </a:spcAft>
              <a:buClr>
                <a:schemeClr val="dk1"/>
              </a:buClr>
              <a:buSzPts val="2000"/>
              <a:buChar char="•"/>
            </a:pPr>
            <a:r>
              <a:rPr lang="en-US" sz="2000"/>
              <a:t>The respective values </a:t>
            </a:r>
            <a:r>
              <a:rPr lang="en-US" sz="2000">
                <a:solidFill>
                  <a:srgbClr val="FF0000"/>
                </a:solidFill>
              </a:rPr>
              <a:t>seem</a:t>
            </a:r>
            <a:r>
              <a:rPr lang="en-US" sz="2000"/>
              <a:t> to be rather close in all the educational levels and we </a:t>
            </a:r>
            <a:r>
              <a:rPr lang="en-US" sz="2000">
                <a:solidFill>
                  <a:srgbClr val="FF0000"/>
                </a:solidFill>
              </a:rPr>
              <a:t>suspect</a:t>
            </a:r>
            <a:r>
              <a:rPr lang="en-US" sz="2000"/>
              <a:t> there is no dependency between the variables</a:t>
            </a:r>
            <a:endParaRPr/>
          </a:p>
          <a:p>
            <a:pPr marL="228600" lvl="0" indent="-228600" algn="l" rtl="0">
              <a:lnSpc>
                <a:spcPct val="90000"/>
              </a:lnSpc>
              <a:spcBef>
                <a:spcPts val="1000"/>
              </a:spcBef>
              <a:spcAft>
                <a:spcPts val="0"/>
              </a:spcAft>
              <a:buClr>
                <a:schemeClr val="dk1"/>
              </a:buClr>
              <a:buSzPts val="2000"/>
              <a:buChar char="•"/>
            </a:pPr>
            <a:r>
              <a:rPr lang="en-US" sz="2000"/>
              <a:t>This was </a:t>
            </a:r>
            <a:r>
              <a:rPr lang="en-US" sz="2000">
                <a:solidFill>
                  <a:srgbClr val="FF0000"/>
                </a:solidFill>
              </a:rPr>
              <a:t>tested</a:t>
            </a:r>
            <a:r>
              <a:rPr lang="en-US" sz="2000"/>
              <a:t> with Chi2 test which gave us the p-value of 0,85 which tell us that there is no dependency between the two variables.</a:t>
            </a:r>
            <a:endParaRPr/>
          </a:p>
          <a:p>
            <a:pPr marL="228600" lvl="0" indent="-101600" algn="l" rtl="0">
              <a:lnSpc>
                <a:spcPct val="90000"/>
              </a:lnSpc>
              <a:spcBef>
                <a:spcPts val="1000"/>
              </a:spcBef>
              <a:spcAft>
                <a:spcPts val="0"/>
              </a:spcAft>
              <a:buClr>
                <a:schemeClr val="dk1"/>
              </a:buClr>
              <a:buSzPts val="2000"/>
              <a:buNone/>
            </a:pPr>
            <a:endParaRPr sz="2000"/>
          </a:p>
        </p:txBody>
      </p:sp>
      <p:sp>
        <p:nvSpPr>
          <p:cNvPr id="230" name="Google Shape;230;p12"/>
          <p:cNvSpPr/>
          <p:nvPr/>
        </p:nvSpPr>
        <p:spPr>
          <a:xfrm rot="5400000">
            <a:off x="-501760" y="5103257"/>
            <a:ext cx="2017580" cy="1014060"/>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1" name="Google Shape;231;p12"/>
          <p:cNvSpPr/>
          <p:nvPr/>
        </p:nvSpPr>
        <p:spPr>
          <a:xfrm rot="2700000">
            <a:off x="427916" y="5728708"/>
            <a:ext cx="485578" cy="485578"/>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32" name="Google Shape;232;p12"/>
          <p:cNvPicPr preferRelativeResize="0"/>
          <p:nvPr/>
        </p:nvPicPr>
        <p:blipFill rotWithShape="1">
          <a:blip r:embed="rId3">
            <a:alphaModFix/>
          </a:blip>
          <a:srcRect/>
          <a:stretch/>
        </p:blipFill>
        <p:spPr>
          <a:xfrm>
            <a:off x="6257813" y="2011548"/>
            <a:ext cx="5290720" cy="2834902"/>
          </a:xfrm>
          <a:prstGeom prst="rect">
            <a:avLst/>
          </a:prstGeom>
          <a:noFill/>
          <a:ln>
            <a:noFill/>
          </a:ln>
        </p:spPr>
      </p:pic>
      <p:grpSp>
        <p:nvGrpSpPr>
          <p:cNvPr id="233" name="Google Shape;233;p12"/>
          <p:cNvGrpSpPr/>
          <p:nvPr/>
        </p:nvGrpSpPr>
        <p:grpSpPr>
          <a:xfrm>
            <a:off x="11094719" y="0"/>
            <a:ext cx="1097281" cy="1097280"/>
            <a:chOff x="11094719" y="0"/>
            <a:chExt cx="1097281" cy="1097280"/>
          </a:xfrm>
        </p:grpSpPr>
        <p:sp>
          <p:nvSpPr>
            <p:cNvPr id="234" name="Google Shape;234;p12"/>
            <p:cNvSpPr/>
            <p:nvPr/>
          </p:nvSpPr>
          <p:spPr>
            <a:xfrm rot="-5400000">
              <a:off x="11094720" y="0"/>
              <a:ext cx="1097280" cy="1097280"/>
            </a:xfrm>
            <a:prstGeom prst="triangle">
              <a:avLst>
                <a:gd name="adj" fmla="val 100000"/>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5" name="Google Shape;235;p12"/>
            <p:cNvSpPr/>
            <p:nvPr/>
          </p:nvSpPr>
          <p:spPr>
            <a:xfrm rot="2700000">
              <a:off x="11189552" y="127618"/>
              <a:ext cx="457894" cy="457894"/>
            </a:xfrm>
            <a:prstGeom prst="rect">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236" name="Google Shape;236;p12"/>
          <p:cNvSpPr txBox="1"/>
          <p:nvPr/>
        </p:nvSpPr>
        <p:spPr>
          <a:xfrm rot="-935871">
            <a:off x="7407479" y="476927"/>
            <a:ext cx="3154260" cy="138499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FF0000"/>
              </a:buClr>
              <a:buSzPts val="1200"/>
              <a:buFont typeface="Arial"/>
              <a:buChar char="•"/>
            </a:pPr>
            <a:r>
              <a:rPr lang="en-US" sz="1200" b="0" i="0" u="none" strike="noStrike" cap="none">
                <a:solidFill>
                  <a:srgbClr val="FF0000"/>
                </a:solidFill>
                <a:latin typeface="Calibri"/>
                <a:ea typeface="Calibri"/>
                <a:cs typeface="Calibri"/>
                <a:sym typeface="Calibri"/>
              </a:rPr>
              <a:t>Note! This slide is just for illustration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1200"/>
              <a:buFont typeface="Arial"/>
              <a:buChar char="•"/>
            </a:pPr>
            <a:r>
              <a:rPr lang="en-US" sz="1200" b="0" i="0" u="none" strike="noStrike" cap="none">
                <a:solidFill>
                  <a:srgbClr val="FF0000"/>
                </a:solidFill>
                <a:latin typeface="Calibri"/>
                <a:ea typeface="Calibri"/>
                <a:cs typeface="Calibri"/>
                <a:sym typeface="Calibri"/>
              </a:rPr>
              <a:t>Actually we did not find anathing interesting here that should be actually reported!</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FF0000"/>
              </a:buClr>
              <a:buSzPts val="1200"/>
              <a:buFont typeface="Arial"/>
              <a:buChar char="•"/>
            </a:pPr>
            <a:r>
              <a:rPr lang="en-US" sz="1200" b="0" i="0" u="none" strike="noStrike" cap="none">
                <a:solidFill>
                  <a:srgbClr val="FF0000"/>
                </a:solidFill>
                <a:latin typeface="Calibri"/>
                <a:ea typeface="Calibri"/>
                <a:cs typeface="Calibri"/>
                <a:sym typeface="Calibri"/>
              </a:rPr>
              <a:t>It is your job to find something meaningful for the business with the dataset used for the Project Work!!</a:t>
            </a:r>
            <a:endParaRPr sz="1200" b="0" i="0" u="none" strike="noStrike" cap="none">
              <a:solidFill>
                <a:srgbClr val="FF0000"/>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0"/>
        <p:cNvGrpSpPr/>
        <p:nvPr/>
      </p:nvGrpSpPr>
      <p:grpSpPr>
        <a:xfrm>
          <a:off x="0" y="0"/>
          <a:ext cx="0" cy="0"/>
          <a:chOff x="0" y="0"/>
          <a:chExt cx="0" cy="0"/>
        </a:xfrm>
      </p:grpSpPr>
      <p:sp>
        <p:nvSpPr>
          <p:cNvPr id="241" name="Google Shape;241;p1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2" name="Google Shape;242;p13"/>
          <p:cNvSpPr txBox="1">
            <a:spLocks noGrp="1"/>
          </p:cNvSpPr>
          <p:nvPr>
            <p:ph type="title"/>
          </p:nvPr>
        </p:nvSpPr>
        <p:spPr>
          <a:xfrm>
            <a:off x="643467" y="321734"/>
            <a:ext cx="10905066"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Analyzing dependency between age_groups and sat_price_level</a:t>
            </a:r>
            <a:endParaRPr sz="3600"/>
          </a:p>
        </p:txBody>
      </p:sp>
      <p:sp>
        <p:nvSpPr>
          <p:cNvPr id="243" name="Google Shape;243;p13"/>
          <p:cNvSpPr txBox="1">
            <a:spLocks noGrp="1"/>
          </p:cNvSpPr>
          <p:nvPr>
            <p:ph idx="1"/>
          </p:nvPr>
        </p:nvSpPr>
        <p:spPr>
          <a:xfrm>
            <a:off x="643469" y="1782981"/>
            <a:ext cx="4008384" cy="4393982"/>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000"/>
              <a:buChar char="•"/>
            </a:pPr>
            <a:r>
              <a:rPr lang="en-US" sz="2000"/>
              <a:t>The figure here shows the the age classes that we used in our analysis – the counts are shown also</a:t>
            </a:r>
            <a:endParaRPr/>
          </a:p>
          <a:p>
            <a:pPr marL="228600" lvl="0" indent="-228600" algn="l" rtl="0">
              <a:lnSpc>
                <a:spcPct val="90000"/>
              </a:lnSpc>
              <a:spcBef>
                <a:spcPts val="1000"/>
              </a:spcBef>
              <a:spcAft>
                <a:spcPts val="0"/>
              </a:spcAft>
              <a:buClr>
                <a:schemeClr val="dk1"/>
              </a:buClr>
              <a:buSzPts val="2000"/>
              <a:buChar char="•"/>
            </a:pPr>
            <a:r>
              <a:rPr lang="en-US" sz="2000"/>
              <a:t>The crosstabulation is given in the table on the right</a:t>
            </a:r>
            <a:endParaRPr/>
          </a:p>
          <a:p>
            <a:pPr marL="228600" lvl="0" indent="-228600" algn="l" rtl="0">
              <a:lnSpc>
                <a:spcPct val="90000"/>
              </a:lnSpc>
              <a:spcBef>
                <a:spcPts val="1000"/>
              </a:spcBef>
              <a:spcAft>
                <a:spcPts val="0"/>
              </a:spcAft>
              <a:buClr>
                <a:schemeClr val="dk1"/>
              </a:buClr>
              <a:buSzPts val="2000"/>
              <a:buChar char="•"/>
            </a:pPr>
            <a:r>
              <a:rPr lang="en-US" sz="2000"/>
              <a:t>Based on the cross tabulation it </a:t>
            </a:r>
            <a:r>
              <a:rPr lang="en-US" sz="2000">
                <a:solidFill>
                  <a:srgbClr val="FF0000"/>
                </a:solidFill>
              </a:rPr>
              <a:t>seems</a:t>
            </a:r>
            <a:r>
              <a:rPr lang="en-US" sz="2000"/>
              <a:t> that for example that our youngest customers and mostly unsatisfied or even very unsatified with our price levels.</a:t>
            </a:r>
            <a:endParaRPr/>
          </a:p>
          <a:p>
            <a:pPr marL="228600" lvl="0" indent="-228600" algn="l" rtl="0">
              <a:lnSpc>
                <a:spcPct val="90000"/>
              </a:lnSpc>
              <a:spcBef>
                <a:spcPts val="1000"/>
              </a:spcBef>
              <a:spcAft>
                <a:spcPts val="0"/>
              </a:spcAft>
              <a:buClr>
                <a:schemeClr val="dk1"/>
              </a:buClr>
              <a:buSzPts val="2000"/>
              <a:buChar char="•"/>
            </a:pPr>
            <a:r>
              <a:rPr lang="en-US" sz="2000"/>
              <a:t>…</a:t>
            </a:r>
            <a:endParaRPr/>
          </a:p>
          <a:p>
            <a:pPr marL="228600" lvl="0" indent="-228600" algn="l" rtl="0">
              <a:lnSpc>
                <a:spcPct val="90000"/>
              </a:lnSpc>
              <a:spcBef>
                <a:spcPts val="1000"/>
              </a:spcBef>
              <a:spcAft>
                <a:spcPts val="0"/>
              </a:spcAft>
              <a:buClr>
                <a:schemeClr val="dk1"/>
              </a:buClr>
              <a:buSzPts val="2000"/>
              <a:buChar char="•"/>
            </a:pPr>
            <a:r>
              <a:rPr lang="en-US" sz="2000"/>
              <a:t>We suggest that we make a campaign for our youngest customers of some kind…</a:t>
            </a:r>
            <a:endParaRPr sz="2000"/>
          </a:p>
        </p:txBody>
      </p:sp>
      <p:grpSp>
        <p:nvGrpSpPr>
          <p:cNvPr id="244" name="Google Shape;244;p13"/>
          <p:cNvGrpSpPr/>
          <p:nvPr/>
        </p:nvGrpSpPr>
        <p:grpSpPr>
          <a:xfrm>
            <a:off x="11219290" y="1"/>
            <a:ext cx="972709" cy="1935307"/>
            <a:chOff x="10918968" y="713127"/>
            <a:chExt cx="1273032" cy="2532832"/>
          </a:xfrm>
        </p:grpSpPr>
        <p:sp>
          <p:nvSpPr>
            <p:cNvPr id="245" name="Google Shape;245;p13"/>
            <p:cNvSpPr/>
            <p:nvPr/>
          </p:nvSpPr>
          <p:spPr>
            <a:xfrm rot="2700000">
              <a:off x="11052629" y="2120024"/>
              <a:ext cx="645368" cy="645368"/>
            </a:xfrm>
            <a:prstGeom prst="rect">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6" name="Google Shape;246;p13"/>
            <p:cNvSpPr/>
            <p:nvPr/>
          </p:nvSpPr>
          <p:spPr>
            <a:xfrm rot="-5400000">
              <a:off x="10289068" y="1343027"/>
              <a:ext cx="2532832" cy="1273032"/>
            </a:xfrm>
            <a:prstGeom prst="triangle">
              <a:avLst>
                <a:gd name="adj" fmla="val 50000"/>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47" name="Google Shape;247;p13"/>
          <p:cNvPicPr preferRelativeResize="0"/>
          <p:nvPr/>
        </p:nvPicPr>
        <p:blipFill rotWithShape="1">
          <a:blip r:embed="rId3">
            <a:alphaModFix/>
          </a:blip>
          <a:srcRect/>
          <a:stretch/>
        </p:blipFill>
        <p:spPr>
          <a:xfrm>
            <a:off x="6962229" y="1782982"/>
            <a:ext cx="2919390" cy="2116558"/>
          </a:xfrm>
          <a:prstGeom prst="rect">
            <a:avLst/>
          </a:prstGeom>
          <a:noFill/>
          <a:ln>
            <a:noFill/>
          </a:ln>
        </p:spPr>
      </p:pic>
      <p:grpSp>
        <p:nvGrpSpPr>
          <p:cNvPr id="248" name="Google Shape;248;p13"/>
          <p:cNvGrpSpPr/>
          <p:nvPr/>
        </p:nvGrpSpPr>
        <p:grpSpPr>
          <a:xfrm>
            <a:off x="0" y="4601497"/>
            <a:ext cx="1014060" cy="2017580"/>
            <a:chOff x="0" y="4601497"/>
            <a:chExt cx="1014060" cy="2017580"/>
          </a:xfrm>
        </p:grpSpPr>
        <p:sp>
          <p:nvSpPr>
            <p:cNvPr id="249" name="Google Shape;249;p13"/>
            <p:cNvSpPr/>
            <p:nvPr/>
          </p:nvSpPr>
          <p:spPr>
            <a:xfrm rot="5400000">
              <a:off x="-501760" y="5103257"/>
              <a:ext cx="2017580" cy="1014060"/>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0" name="Google Shape;250;p13"/>
            <p:cNvSpPr/>
            <p:nvPr/>
          </p:nvSpPr>
          <p:spPr>
            <a:xfrm rot="2700000">
              <a:off x="427916" y="5728708"/>
              <a:ext cx="485578" cy="485578"/>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51" name="Google Shape;251;p13"/>
          <p:cNvPicPr preferRelativeResize="0"/>
          <p:nvPr/>
        </p:nvPicPr>
        <p:blipFill rotWithShape="1">
          <a:blip r:embed="rId4">
            <a:alphaModFix/>
          </a:blip>
          <a:srcRect/>
          <a:stretch/>
        </p:blipFill>
        <p:spPr>
          <a:xfrm>
            <a:off x="5757790" y="4060406"/>
            <a:ext cx="5328272" cy="208446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p1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7" name="Google Shape;257;p14"/>
          <p:cNvSpPr txBox="1">
            <a:spLocks noGrp="1"/>
          </p:cNvSpPr>
          <p:nvPr>
            <p:ph type="title"/>
          </p:nvPr>
        </p:nvSpPr>
        <p:spPr>
          <a:xfrm>
            <a:off x="643467" y="321734"/>
            <a:ext cx="10905066" cy="113573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a:t>Analyzing dependency between age_groups and sat_price_level</a:t>
            </a:r>
            <a:endParaRPr sz="3600"/>
          </a:p>
        </p:txBody>
      </p:sp>
      <p:sp>
        <p:nvSpPr>
          <p:cNvPr id="258" name="Google Shape;258;p14"/>
          <p:cNvSpPr txBox="1">
            <a:spLocks noGrp="1"/>
          </p:cNvSpPr>
          <p:nvPr>
            <p:ph idx="1"/>
          </p:nvPr>
        </p:nvSpPr>
        <p:spPr>
          <a:xfrm>
            <a:off x="643469" y="1782981"/>
            <a:ext cx="4008384" cy="439398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We made a proper test for these variables. The p-value for the test was ~0.0036 so the level of dependency between the two variables is statistically significant.</a:t>
            </a:r>
            <a:endParaRPr/>
          </a:p>
          <a:p>
            <a:pPr marL="228600" lvl="0" indent="-228600" algn="l" rtl="0">
              <a:lnSpc>
                <a:spcPct val="90000"/>
              </a:lnSpc>
              <a:spcBef>
                <a:spcPts val="1000"/>
              </a:spcBef>
              <a:spcAft>
                <a:spcPts val="0"/>
              </a:spcAft>
              <a:buClr>
                <a:schemeClr val="dk1"/>
              </a:buClr>
              <a:buSzPts val="2000"/>
              <a:buChar char="•"/>
            </a:pPr>
            <a:r>
              <a:rPr lang="en-US" sz="2000"/>
              <a:t>By examining the data we can see that, for example, our youngest customers are the most unsatisfied age group what comes to the price level. </a:t>
            </a:r>
            <a:endParaRPr/>
          </a:p>
          <a:p>
            <a:pPr marL="228600" lvl="0" indent="-228600" algn="l" rtl="0">
              <a:lnSpc>
                <a:spcPct val="90000"/>
              </a:lnSpc>
              <a:spcBef>
                <a:spcPts val="1000"/>
              </a:spcBef>
              <a:spcAft>
                <a:spcPts val="0"/>
              </a:spcAft>
              <a:buClr>
                <a:schemeClr val="dk1"/>
              </a:buClr>
              <a:buSzPts val="2000"/>
              <a:buChar char="•"/>
            </a:pPr>
            <a:r>
              <a:rPr lang="en-US" sz="2000"/>
              <a:t>…</a:t>
            </a:r>
            <a:endParaRPr/>
          </a:p>
          <a:p>
            <a:pPr marL="228600" lvl="0" indent="-228600" algn="l" rtl="0">
              <a:lnSpc>
                <a:spcPct val="90000"/>
              </a:lnSpc>
              <a:spcBef>
                <a:spcPts val="1000"/>
              </a:spcBef>
              <a:spcAft>
                <a:spcPts val="0"/>
              </a:spcAft>
              <a:buClr>
                <a:schemeClr val="dk1"/>
              </a:buClr>
              <a:buSzPts val="2000"/>
              <a:buChar char="•"/>
            </a:pPr>
            <a:r>
              <a:rPr lang="en-US" sz="2000"/>
              <a:t>…</a:t>
            </a:r>
            <a:endParaRPr/>
          </a:p>
        </p:txBody>
      </p:sp>
      <p:grpSp>
        <p:nvGrpSpPr>
          <p:cNvPr id="259" name="Google Shape;259;p14"/>
          <p:cNvGrpSpPr/>
          <p:nvPr/>
        </p:nvGrpSpPr>
        <p:grpSpPr>
          <a:xfrm>
            <a:off x="11219290" y="1"/>
            <a:ext cx="972709" cy="1935307"/>
            <a:chOff x="10918968" y="713127"/>
            <a:chExt cx="1273032" cy="2532832"/>
          </a:xfrm>
        </p:grpSpPr>
        <p:sp>
          <p:nvSpPr>
            <p:cNvPr id="260" name="Google Shape;260;p14"/>
            <p:cNvSpPr/>
            <p:nvPr/>
          </p:nvSpPr>
          <p:spPr>
            <a:xfrm rot="2700000">
              <a:off x="11052629" y="2120024"/>
              <a:ext cx="645368" cy="645368"/>
            </a:xfrm>
            <a:prstGeom prst="rect">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1" name="Google Shape;261;p14"/>
            <p:cNvSpPr/>
            <p:nvPr/>
          </p:nvSpPr>
          <p:spPr>
            <a:xfrm rot="-5400000">
              <a:off x="10289068" y="1343027"/>
              <a:ext cx="2532832" cy="1273032"/>
            </a:xfrm>
            <a:prstGeom prst="triangle">
              <a:avLst>
                <a:gd name="adj" fmla="val 50000"/>
              </a:avLst>
            </a:prstGeom>
            <a:solidFill>
              <a:schemeClr val="accent4">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grpSp>
        <p:nvGrpSpPr>
          <p:cNvPr id="262" name="Google Shape;262;p14"/>
          <p:cNvGrpSpPr/>
          <p:nvPr/>
        </p:nvGrpSpPr>
        <p:grpSpPr>
          <a:xfrm>
            <a:off x="0" y="4601497"/>
            <a:ext cx="1014060" cy="2017580"/>
            <a:chOff x="0" y="4601497"/>
            <a:chExt cx="1014060" cy="2017580"/>
          </a:xfrm>
        </p:grpSpPr>
        <p:sp>
          <p:nvSpPr>
            <p:cNvPr id="263" name="Google Shape;263;p14"/>
            <p:cNvSpPr/>
            <p:nvPr/>
          </p:nvSpPr>
          <p:spPr>
            <a:xfrm rot="5400000">
              <a:off x="-501760" y="5103257"/>
              <a:ext cx="2017580" cy="1014060"/>
            </a:xfrm>
            <a:prstGeom prst="triangle">
              <a:avLst>
                <a:gd name="adj" fmla="val 50000"/>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p14"/>
            <p:cNvSpPr/>
            <p:nvPr/>
          </p:nvSpPr>
          <p:spPr>
            <a:xfrm rot="2700000">
              <a:off x="427916" y="5728708"/>
              <a:ext cx="485578" cy="485578"/>
            </a:xfrm>
            <a:prstGeom prst="rect">
              <a:avLst/>
            </a:prstGeom>
            <a:solidFill>
              <a:schemeClr val="accent1">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pic>
        <p:nvPicPr>
          <p:cNvPr id="265" name="Google Shape;265;p14"/>
          <p:cNvPicPr preferRelativeResize="0"/>
          <p:nvPr/>
        </p:nvPicPr>
        <p:blipFill rotWithShape="1">
          <a:blip r:embed="rId3">
            <a:alphaModFix/>
          </a:blip>
          <a:srcRect/>
          <a:stretch/>
        </p:blipFill>
        <p:spPr>
          <a:xfrm>
            <a:off x="7371769" y="1786471"/>
            <a:ext cx="4333875" cy="24860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5"/>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Continue with your other findings</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When you are done with analysing and you have done this powerpoint accordingly, make the Project work video where you discuss this PowerPoint and especially your findings clearly. </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Remember to see the Project Work guidelines fully for other things to be discussed on the video also!!</a:t>
            </a:r>
            <a:endParaRPr/>
          </a:p>
        </p:txBody>
      </p:sp>
    </p:spTree>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Laajakuva</PresentationFormat>
  <Slides>35</Slides>
  <Notes>22</Notes>
  <HiddenSlides>0</HiddenSlides>
  <ScaleCrop>false</ScaleCrop>
  <HeadingPairs>
    <vt:vector size="4" baseType="variant">
      <vt:variant>
        <vt:lpstr>Teema</vt:lpstr>
      </vt:variant>
      <vt:variant>
        <vt:i4>1</vt:i4>
      </vt:variant>
      <vt:variant>
        <vt:lpstr>Dian otsikot</vt:lpstr>
      </vt:variant>
      <vt:variant>
        <vt:i4>35</vt:i4>
      </vt:variant>
    </vt:vector>
  </HeadingPairs>
  <TitlesOfParts>
    <vt:vector size="36" baseType="lpstr">
      <vt:lpstr>DashVTI</vt:lpstr>
      <vt:lpstr>Analysis reports for</vt:lpstr>
      <vt:lpstr>Background of the survey</vt:lpstr>
      <vt:lpstr>Ikä</vt:lpstr>
      <vt:lpstr>Ikä jakautuminen</vt:lpstr>
      <vt:lpstr>Ikä jakautuminen luokissa</vt:lpstr>
      <vt:lpstr>Naisten ja miesten jakautuminen</vt:lpstr>
      <vt:lpstr>Työtehtävä tyytyväisyys</vt:lpstr>
      <vt:lpstr>PowerPoint-esitys</vt:lpstr>
      <vt:lpstr>PowerPoint-esitys</vt:lpstr>
      <vt:lpstr>Työympäristön tyytyväisyys</vt:lpstr>
      <vt:lpstr>Palkka tyytyväisyys</vt:lpstr>
      <vt:lpstr>Background analysis (Marriage status)</vt:lpstr>
      <vt:lpstr>Background analysis (Years of service)</vt:lpstr>
      <vt:lpstr>Background analysis (Marriage status &amp; Years of service)</vt:lpstr>
      <vt:lpstr>Salary Distribution</vt:lpstr>
      <vt:lpstr>Education Distribution</vt:lpstr>
      <vt:lpstr>Background analysis (variable by variable)</vt:lpstr>
      <vt:lpstr>Background analysis (Education variable)</vt:lpstr>
      <vt:lpstr>Background analysis (Net house income variable)</vt:lpstr>
      <vt:lpstr>Background analysis (Education variable)</vt:lpstr>
      <vt:lpstr>Background analysis (more ….)</vt:lpstr>
      <vt:lpstr>Analyzes two qualitative variables </vt:lpstr>
      <vt:lpstr>Worker Satisfaction</vt:lpstr>
      <vt:lpstr>Management Satisfaction &amp; Marriage status</vt:lpstr>
      <vt:lpstr>Colleque Satisfaction &amp; Marriage status</vt:lpstr>
      <vt:lpstr>Analyzing dependency between years of service and colleque satisfaction</vt:lpstr>
      <vt:lpstr>Analyzing dependency between years of service and salary satisfaction</vt:lpstr>
      <vt:lpstr>Management Satisfaction, years of service &amp; marriage status</vt:lpstr>
      <vt:lpstr>Analyzing Salary Satisfactory and Education Level</vt:lpstr>
      <vt:lpstr>Analyzing Salary Distribution and Education Level </vt:lpstr>
      <vt:lpstr>Analyzing dependency between variables gender and education</vt:lpstr>
      <vt:lpstr>Analyzing dependency between variables gender and education</vt:lpstr>
      <vt:lpstr>Analyzing dependency between age_groups and sat_price_level</vt:lpstr>
      <vt:lpstr>Analyzing dependency between age_groups and sat_price_level</vt:lpstr>
      <vt:lpstr>PowerPoint-esitys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Tommi Lahti</dc:creator>
  <cp:revision>336</cp:revision>
  <dcterms:created xsi:type="dcterms:W3CDTF">2022-06-01T09:20:14Z</dcterms:created>
  <dcterms:modified xsi:type="dcterms:W3CDTF">2025-10-25T12:19:02Z</dcterms:modified>
</cp:coreProperties>
</file>